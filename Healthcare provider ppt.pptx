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AE0F4-9899-4A88-8BB4-FF485AB31B4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94BB8-0D9A-4B77-942D-21D46DF8D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10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94BB8-0D9A-4B77-942D-21D46DF8DF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58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3E84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90E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3E84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90E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3E84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3E84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79421" y="257937"/>
            <a:ext cx="7233157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3E84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03341" y="2651506"/>
            <a:ext cx="6070600" cy="387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90E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8199" y="1467993"/>
            <a:ext cx="4359275" cy="127889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840"/>
              </a:spcBef>
            </a:pPr>
            <a:r>
              <a:rPr sz="4400" spc="-10" dirty="0"/>
              <a:t>Healthcare </a:t>
            </a:r>
            <a:r>
              <a:rPr sz="4400" dirty="0"/>
              <a:t>Analytics</a:t>
            </a:r>
            <a:r>
              <a:rPr sz="4400" spc="-50" dirty="0"/>
              <a:t> </a:t>
            </a:r>
            <a:r>
              <a:rPr sz="4400" spc="-10" dirty="0"/>
              <a:t>Report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38199" y="2999308"/>
            <a:ext cx="4666615" cy="1786258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285"/>
              </a:spcBef>
            </a:pP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This</a:t>
            </a:r>
            <a:r>
              <a:rPr sz="1600" spc="-5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report</a:t>
            </a:r>
            <a:r>
              <a:rPr sz="1600" spc="-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provides</a:t>
            </a:r>
            <a:r>
              <a:rPr sz="1600" spc="-2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comprehensive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 insights</a:t>
            </a:r>
            <a:r>
              <a:rPr sz="1600" spc="-7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into</a:t>
            </a:r>
            <a:r>
              <a:rPr sz="1600" spc="-5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patient experiences,</a:t>
            </a:r>
            <a:r>
              <a:rPr sz="1600" spc="-2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healthcare</a:t>
            </a:r>
            <a:r>
              <a:rPr sz="1600" spc="-2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providers' performance,</a:t>
            </a:r>
            <a:r>
              <a:rPr sz="1600" spc="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13745"/>
                </a:solidFill>
                <a:latin typeface="Calibri"/>
                <a:cs typeface="Calibri"/>
              </a:rPr>
              <a:t>and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overall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 operational</a:t>
            </a:r>
            <a:r>
              <a:rPr sz="1600" spc="-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efficiency</a:t>
            </a:r>
            <a:r>
              <a:rPr sz="1600" spc="-3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as</a:t>
            </a:r>
            <a:r>
              <a:rPr sz="1600" spc="-2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of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April</a:t>
            </a:r>
            <a:r>
              <a:rPr sz="1600" spc="-2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2025.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6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  <a:cs typeface="Nirmala UI"/>
              </a:rPr>
              <a:t>Deepak Kumar</a:t>
            </a:r>
            <a:br>
              <a:rPr lang="en-US" b="1" dirty="0">
                <a:solidFill>
                  <a:srgbClr val="090E20"/>
                </a:solidFill>
                <a:latin typeface="Nirmala UI"/>
                <a:cs typeface="Nirmala UI"/>
              </a:rPr>
            </a:b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Analyst </a:t>
            </a:r>
            <a:endParaRPr sz="16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16166" y="316102"/>
            <a:ext cx="5276215" cy="5978525"/>
            <a:chOff x="6916166" y="316102"/>
            <a:chExt cx="5276215" cy="5978525"/>
          </a:xfrm>
        </p:grpSpPr>
        <p:sp>
          <p:nvSpPr>
            <p:cNvPr id="5" name="object 5"/>
            <p:cNvSpPr/>
            <p:nvPr/>
          </p:nvSpPr>
          <p:spPr>
            <a:xfrm>
              <a:off x="6916166" y="3191001"/>
              <a:ext cx="5276215" cy="3103245"/>
            </a:xfrm>
            <a:custGeom>
              <a:avLst/>
              <a:gdLst/>
              <a:ahLst/>
              <a:cxnLst/>
              <a:rect l="l" t="t" r="r" b="b"/>
              <a:pathLst>
                <a:path w="5276215" h="3103245">
                  <a:moveTo>
                    <a:pt x="5275833" y="0"/>
                  </a:moveTo>
                  <a:lnTo>
                    <a:pt x="279145" y="0"/>
                  </a:lnTo>
                  <a:lnTo>
                    <a:pt x="233864" y="3653"/>
                  </a:lnTo>
                  <a:lnTo>
                    <a:pt x="190910" y="14230"/>
                  </a:lnTo>
                  <a:lnTo>
                    <a:pt x="150857" y="31155"/>
                  </a:lnTo>
                  <a:lnTo>
                    <a:pt x="114281" y="53856"/>
                  </a:lnTo>
                  <a:lnTo>
                    <a:pt x="81756" y="81756"/>
                  </a:lnTo>
                  <a:lnTo>
                    <a:pt x="53856" y="114281"/>
                  </a:lnTo>
                  <a:lnTo>
                    <a:pt x="31155" y="150857"/>
                  </a:lnTo>
                  <a:lnTo>
                    <a:pt x="14230" y="190910"/>
                  </a:lnTo>
                  <a:lnTo>
                    <a:pt x="3653" y="233864"/>
                  </a:lnTo>
                  <a:lnTo>
                    <a:pt x="0" y="279146"/>
                  </a:lnTo>
                  <a:lnTo>
                    <a:pt x="0" y="2823959"/>
                  </a:lnTo>
                  <a:lnTo>
                    <a:pt x="3653" y="2869240"/>
                  </a:lnTo>
                  <a:lnTo>
                    <a:pt x="14230" y="2912196"/>
                  </a:lnTo>
                  <a:lnTo>
                    <a:pt x="31155" y="2952250"/>
                  </a:lnTo>
                  <a:lnTo>
                    <a:pt x="53856" y="2988828"/>
                  </a:lnTo>
                  <a:lnTo>
                    <a:pt x="81756" y="3021355"/>
                  </a:lnTo>
                  <a:lnTo>
                    <a:pt x="114281" y="3049257"/>
                  </a:lnTo>
                  <a:lnTo>
                    <a:pt x="150857" y="3071959"/>
                  </a:lnTo>
                  <a:lnTo>
                    <a:pt x="190910" y="3088886"/>
                  </a:lnTo>
                  <a:lnTo>
                    <a:pt x="233864" y="3099464"/>
                  </a:lnTo>
                  <a:lnTo>
                    <a:pt x="279145" y="3103118"/>
                  </a:lnTo>
                  <a:lnTo>
                    <a:pt x="5275833" y="3103118"/>
                  </a:lnTo>
                  <a:lnTo>
                    <a:pt x="5275833" y="0"/>
                  </a:lnTo>
                  <a:close/>
                </a:path>
              </a:pathLst>
            </a:custGeom>
            <a:solidFill>
              <a:srgbClr val="003E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9833" y="856386"/>
              <a:ext cx="4892167" cy="50755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59369" y="316102"/>
              <a:ext cx="1076325" cy="1080770"/>
            </a:xfrm>
            <a:custGeom>
              <a:avLst/>
              <a:gdLst/>
              <a:ahLst/>
              <a:cxnLst/>
              <a:rect l="l" t="t" r="r" b="b"/>
              <a:pathLst>
                <a:path w="1076325" h="1080770">
                  <a:moveTo>
                    <a:pt x="896747" y="0"/>
                  </a:moveTo>
                  <a:lnTo>
                    <a:pt x="179324" y="0"/>
                  </a:lnTo>
                  <a:lnTo>
                    <a:pt x="131644" y="6404"/>
                  </a:lnTo>
                  <a:lnTo>
                    <a:pt x="88805" y="24478"/>
                  </a:lnTo>
                  <a:lnTo>
                    <a:pt x="52514" y="52514"/>
                  </a:lnTo>
                  <a:lnTo>
                    <a:pt x="24478" y="88805"/>
                  </a:lnTo>
                  <a:lnTo>
                    <a:pt x="6404" y="131644"/>
                  </a:lnTo>
                  <a:lnTo>
                    <a:pt x="0" y="179324"/>
                  </a:lnTo>
                  <a:lnTo>
                    <a:pt x="0" y="901192"/>
                  </a:lnTo>
                  <a:lnTo>
                    <a:pt x="6404" y="948871"/>
                  </a:lnTo>
                  <a:lnTo>
                    <a:pt x="24478" y="991710"/>
                  </a:lnTo>
                  <a:lnTo>
                    <a:pt x="52514" y="1028001"/>
                  </a:lnTo>
                  <a:lnTo>
                    <a:pt x="88805" y="1056037"/>
                  </a:lnTo>
                  <a:lnTo>
                    <a:pt x="131644" y="1074111"/>
                  </a:lnTo>
                  <a:lnTo>
                    <a:pt x="179324" y="1080516"/>
                  </a:lnTo>
                  <a:lnTo>
                    <a:pt x="896747" y="1080516"/>
                  </a:lnTo>
                  <a:lnTo>
                    <a:pt x="944426" y="1074111"/>
                  </a:lnTo>
                  <a:lnTo>
                    <a:pt x="987265" y="1056037"/>
                  </a:lnTo>
                  <a:lnTo>
                    <a:pt x="1023556" y="1028001"/>
                  </a:lnTo>
                  <a:lnTo>
                    <a:pt x="1051592" y="991710"/>
                  </a:lnTo>
                  <a:lnTo>
                    <a:pt x="1069666" y="948871"/>
                  </a:lnTo>
                  <a:lnTo>
                    <a:pt x="1076071" y="901192"/>
                  </a:lnTo>
                  <a:lnTo>
                    <a:pt x="1076071" y="179324"/>
                  </a:lnTo>
                  <a:lnTo>
                    <a:pt x="1069666" y="131644"/>
                  </a:lnTo>
                  <a:lnTo>
                    <a:pt x="1051592" y="88805"/>
                  </a:lnTo>
                  <a:lnTo>
                    <a:pt x="1023556" y="52514"/>
                  </a:lnTo>
                  <a:lnTo>
                    <a:pt x="987265" y="24478"/>
                  </a:lnTo>
                  <a:lnTo>
                    <a:pt x="944426" y="6404"/>
                  </a:lnTo>
                  <a:lnTo>
                    <a:pt x="896747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41487" y="491489"/>
              <a:ext cx="711835" cy="728980"/>
            </a:xfrm>
            <a:custGeom>
              <a:avLst/>
              <a:gdLst/>
              <a:ahLst/>
              <a:cxnLst/>
              <a:rect l="l" t="t" r="r" b="b"/>
              <a:pathLst>
                <a:path w="711834" h="728980">
                  <a:moveTo>
                    <a:pt x="711835" y="251460"/>
                  </a:moveTo>
                  <a:lnTo>
                    <a:pt x="469773" y="251460"/>
                  </a:lnTo>
                  <a:lnTo>
                    <a:pt x="469773" y="0"/>
                  </a:lnTo>
                  <a:lnTo>
                    <a:pt x="242062" y="0"/>
                  </a:lnTo>
                  <a:lnTo>
                    <a:pt x="242062" y="251460"/>
                  </a:lnTo>
                  <a:lnTo>
                    <a:pt x="0" y="251460"/>
                  </a:lnTo>
                  <a:lnTo>
                    <a:pt x="0" y="478790"/>
                  </a:lnTo>
                  <a:lnTo>
                    <a:pt x="242062" y="478790"/>
                  </a:lnTo>
                  <a:lnTo>
                    <a:pt x="242062" y="728980"/>
                  </a:lnTo>
                  <a:lnTo>
                    <a:pt x="469773" y="728980"/>
                  </a:lnTo>
                  <a:lnTo>
                    <a:pt x="469773" y="478790"/>
                  </a:lnTo>
                  <a:lnTo>
                    <a:pt x="711835" y="478790"/>
                  </a:lnTo>
                  <a:lnTo>
                    <a:pt x="711835" y="25146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0465">
              <a:lnSpc>
                <a:spcPct val="100000"/>
              </a:lnSpc>
              <a:spcBef>
                <a:spcPts val="100"/>
              </a:spcBef>
            </a:pPr>
            <a:r>
              <a:rPr dirty="0"/>
              <a:t>Patients</a:t>
            </a:r>
            <a:r>
              <a:rPr spc="-135" dirty="0"/>
              <a:t> </a:t>
            </a:r>
            <a:r>
              <a:rPr dirty="0"/>
              <a:t>Report</a:t>
            </a:r>
            <a:r>
              <a:rPr spc="-13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9765" y="855091"/>
            <a:ext cx="42519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A</a:t>
            </a:r>
            <a:r>
              <a:rPr sz="1600" spc="-4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Comprehensive</a:t>
            </a:r>
            <a:r>
              <a:rPr sz="1600" spc="-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Overview</a:t>
            </a:r>
            <a:r>
              <a:rPr sz="1600" spc="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of</a:t>
            </a:r>
            <a:r>
              <a:rPr sz="1600" spc="-2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Patient</a:t>
            </a:r>
            <a:r>
              <a:rPr sz="1600" spc="-4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Care</a:t>
            </a:r>
            <a:r>
              <a:rPr sz="1600" spc="-3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Insights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416" y="1514749"/>
            <a:ext cx="5272405" cy="461137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35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800" dirty="0">
                <a:latin typeface="Trebuchet MS"/>
                <a:cs typeface="Trebuchet MS"/>
              </a:rPr>
              <a:t>Purpose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Report</a:t>
            </a:r>
            <a:endParaRPr sz="18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1005"/>
              </a:spcBef>
              <a:buClr>
                <a:srgbClr val="15E8C5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spc="-145" dirty="0">
                <a:solidFill>
                  <a:srgbClr val="393939"/>
                </a:solidFill>
                <a:latin typeface="Trebuchet MS"/>
                <a:cs typeface="Trebuchet MS"/>
              </a:rPr>
              <a:t>To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analyze</a:t>
            </a:r>
            <a:r>
              <a:rPr sz="1600" spc="-10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patient</a:t>
            </a:r>
            <a:r>
              <a:rPr sz="1600" spc="-114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demographics</a:t>
            </a:r>
            <a:r>
              <a:rPr sz="1600" spc="-7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393939"/>
                </a:solidFill>
                <a:latin typeface="Trebuchet MS"/>
                <a:cs typeface="Trebuchet MS"/>
              </a:rPr>
              <a:t>and</a:t>
            </a:r>
            <a:r>
              <a:rPr sz="1600" spc="-9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393939"/>
                </a:solidFill>
                <a:latin typeface="Trebuchet MS"/>
                <a:cs typeface="Trebuchet MS"/>
              </a:rPr>
              <a:t>satisfaction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393939"/>
                </a:solidFill>
                <a:latin typeface="Trebuchet MS"/>
                <a:cs typeface="Trebuchet MS"/>
              </a:rPr>
              <a:t>in</a:t>
            </a:r>
            <a:endParaRPr sz="1600">
              <a:latin typeface="Trebuchet MS"/>
              <a:cs typeface="Trebuchet MS"/>
            </a:endParaRPr>
          </a:p>
          <a:p>
            <a:pPr marL="756285">
              <a:lnSpc>
                <a:spcPct val="100000"/>
              </a:lnSpc>
              <a:spcBef>
                <a:spcPts val="960"/>
              </a:spcBef>
            </a:pP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healthcare</a:t>
            </a:r>
            <a:r>
              <a:rPr sz="1600" spc="-6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settings.</a:t>
            </a:r>
            <a:endParaRPr sz="16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35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800" spc="-70" dirty="0">
                <a:latin typeface="Trebuchet MS"/>
                <a:cs typeface="Trebuchet MS"/>
              </a:rPr>
              <a:t>Patient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Age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Group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Distribution</a:t>
            </a:r>
            <a:endParaRPr sz="1800">
              <a:latin typeface="Trebuchet MS"/>
              <a:cs typeface="Trebuchet MS"/>
            </a:endParaRPr>
          </a:p>
          <a:p>
            <a:pPr marL="756285" marR="559435" lvl="1" indent="-287020">
              <a:lnSpc>
                <a:spcPct val="150000"/>
              </a:lnSpc>
              <a:spcBef>
                <a:spcPts val="45"/>
              </a:spcBef>
              <a:buClr>
                <a:srgbClr val="15E8C5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spc="-35" dirty="0">
                <a:solidFill>
                  <a:srgbClr val="393939"/>
                </a:solidFill>
                <a:latin typeface="Trebuchet MS"/>
                <a:cs typeface="Trebuchet MS"/>
              </a:rPr>
              <a:t>Visualize</a:t>
            </a:r>
            <a:r>
              <a:rPr sz="1600" spc="-114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the</a:t>
            </a:r>
            <a:r>
              <a:rPr sz="1600" spc="-12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393939"/>
                </a:solidFill>
                <a:latin typeface="Trebuchet MS"/>
                <a:cs typeface="Trebuchet MS"/>
              </a:rPr>
              <a:t>age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demographics</a:t>
            </a:r>
            <a:r>
              <a:rPr sz="1600" spc="-8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393939"/>
                </a:solidFill>
                <a:latin typeface="Trebuchet MS"/>
                <a:cs typeface="Trebuchet MS"/>
              </a:rPr>
              <a:t>of</a:t>
            </a:r>
            <a:r>
              <a:rPr sz="1600" spc="-10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patients</a:t>
            </a:r>
            <a:r>
              <a:rPr sz="1600" spc="-12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393939"/>
                </a:solidFill>
                <a:latin typeface="Trebuchet MS"/>
                <a:cs typeface="Trebuchet MS"/>
              </a:rPr>
              <a:t>to understand</a:t>
            </a:r>
            <a:r>
              <a:rPr sz="1600" spc="-7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the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393939"/>
                </a:solidFill>
                <a:latin typeface="Trebuchet MS"/>
                <a:cs typeface="Trebuchet MS"/>
              </a:rPr>
              <a:t>age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segments</a:t>
            </a:r>
            <a:r>
              <a:rPr sz="1600" spc="-10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better.</a:t>
            </a:r>
            <a:endParaRPr sz="16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35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800" spc="-70" dirty="0">
                <a:latin typeface="Trebuchet MS"/>
                <a:cs typeface="Trebuchet MS"/>
              </a:rPr>
              <a:t>Patient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Gender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Split</a:t>
            </a:r>
            <a:endParaRPr sz="1800">
              <a:latin typeface="Trebuchet MS"/>
              <a:cs typeface="Trebuchet MS"/>
            </a:endParaRPr>
          </a:p>
          <a:p>
            <a:pPr marL="756285" marR="51435" lvl="1" indent="-287020">
              <a:lnSpc>
                <a:spcPct val="150000"/>
              </a:lnSpc>
              <a:spcBef>
                <a:spcPts val="50"/>
              </a:spcBef>
              <a:buClr>
                <a:srgbClr val="15E8C5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spc="-35" dirty="0">
                <a:solidFill>
                  <a:srgbClr val="393939"/>
                </a:solidFill>
                <a:latin typeface="Trebuchet MS"/>
                <a:cs typeface="Trebuchet MS"/>
              </a:rPr>
              <a:t>Examine</a:t>
            </a:r>
            <a:r>
              <a:rPr sz="1600" spc="-9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the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gender</a:t>
            </a:r>
            <a:r>
              <a:rPr sz="1600" spc="-9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50" dirty="0">
                <a:solidFill>
                  <a:srgbClr val="393939"/>
                </a:solidFill>
                <a:latin typeface="Trebuchet MS"/>
                <a:cs typeface="Trebuchet MS"/>
              </a:rPr>
              <a:t>distribution</a:t>
            </a:r>
            <a:r>
              <a:rPr sz="1600" spc="-7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393939"/>
                </a:solidFill>
                <a:latin typeface="Trebuchet MS"/>
                <a:cs typeface="Trebuchet MS"/>
              </a:rPr>
              <a:t>among</a:t>
            </a:r>
            <a:r>
              <a:rPr sz="1600" spc="-10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patients</a:t>
            </a:r>
            <a:r>
              <a:rPr sz="1600" spc="-9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393939"/>
                </a:solidFill>
                <a:latin typeface="Trebuchet MS"/>
                <a:cs typeface="Trebuchet MS"/>
              </a:rPr>
              <a:t>for </a:t>
            </a:r>
            <a:r>
              <a:rPr sz="1600" spc="-75" dirty="0">
                <a:solidFill>
                  <a:srgbClr val="393939"/>
                </a:solidFill>
                <a:latin typeface="Trebuchet MS"/>
                <a:cs typeface="Trebuchet MS"/>
              </a:rPr>
              <a:t>targeted</a:t>
            </a:r>
            <a:r>
              <a:rPr sz="1600" spc="-10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393939"/>
                </a:solidFill>
                <a:latin typeface="Trebuchet MS"/>
                <a:cs typeface="Trebuchet MS"/>
              </a:rPr>
              <a:t>care</a:t>
            </a:r>
            <a:r>
              <a:rPr sz="1600" spc="-114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strategies.</a:t>
            </a:r>
            <a:endParaRPr sz="16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35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800" spc="-30" dirty="0">
                <a:latin typeface="Trebuchet MS"/>
                <a:cs typeface="Trebuchet MS"/>
              </a:rPr>
              <a:t>Geographical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Distribution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of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Patients</a:t>
            </a:r>
            <a:endParaRPr sz="18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1005"/>
              </a:spcBef>
              <a:buClr>
                <a:srgbClr val="15E8C5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dirty="0">
                <a:solidFill>
                  <a:srgbClr val="393939"/>
                </a:solidFill>
                <a:latin typeface="Trebuchet MS"/>
                <a:cs typeface="Trebuchet MS"/>
              </a:rPr>
              <a:t>Map</a:t>
            </a:r>
            <a:r>
              <a:rPr sz="1600" spc="-114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showing</a:t>
            </a:r>
            <a:r>
              <a:rPr sz="1600" spc="-8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0" dirty="0">
                <a:solidFill>
                  <a:srgbClr val="393939"/>
                </a:solidFill>
                <a:latin typeface="Trebuchet MS"/>
                <a:cs typeface="Trebuchet MS"/>
              </a:rPr>
              <a:t>where</a:t>
            </a:r>
            <a:r>
              <a:rPr sz="1600" spc="-9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patients</a:t>
            </a:r>
            <a:r>
              <a:rPr sz="1600" spc="-114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0" dirty="0">
                <a:solidFill>
                  <a:srgbClr val="393939"/>
                </a:solidFill>
                <a:latin typeface="Trebuchet MS"/>
                <a:cs typeface="Trebuchet MS"/>
              </a:rPr>
              <a:t>are</a:t>
            </a:r>
            <a:r>
              <a:rPr sz="1600" spc="-114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393939"/>
                </a:solidFill>
                <a:latin typeface="Trebuchet MS"/>
                <a:cs typeface="Trebuchet MS"/>
              </a:rPr>
              <a:t>located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to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identify</a:t>
            </a:r>
            <a:endParaRPr sz="1600">
              <a:latin typeface="Trebuchet MS"/>
              <a:cs typeface="Trebuchet MS"/>
            </a:endParaRPr>
          </a:p>
          <a:p>
            <a:pPr marL="756285">
              <a:lnSpc>
                <a:spcPct val="100000"/>
              </a:lnSpc>
              <a:spcBef>
                <a:spcPts val="960"/>
              </a:spcBef>
            </a:pPr>
            <a:r>
              <a:rPr sz="1600" spc="-50" dirty="0">
                <a:solidFill>
                  <a:srgbClr val="393939"/>
                </a:solidFill>
                <a:latin typeface="Trebuchet MS"/>
                <a:cs typeface="Trebuchet MS"/>
              </a:rPr>
              <a:t>regional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393939"/>
                </a:solidFill>
                <a:latin typeface="Trebuchet MS"/>
                <a:cs typeface="Trebuchet MS"/>
              </a:rPr>
              <a:t>healthcare</a:t>
            </a:r>
            <a:r>
              <a:rPr sz="1600" spc="-10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needs.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0057" y="1659128"/>
            <a:ext cx="38754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800" spc="-70" dirty="0">
                <a:latin typeface="Trebuchet MS"/>
                <a:cs typeface="Trebuchet MS"/>
              </a:rPr>
              <a:t>Patient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Satisfaction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Score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Over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Time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0057" y="1939422"/>
            <a:ext cx="4530725" cy="116268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756285" indent="-286385">
              <a:lnSpc>
                <a:spcPct val="100000"/>
              </a:lnSpc>
              <a:spcBef>
                <a:spcPts val="1055"/>
              </a:spcBef>
              <a:buClr>
                <a:srgbClr val="15E8C5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spc="-85" dirty="0">
                <a:solidFill>
                  <a:srgbClr val="393939"/>
                </a:solidFill>
                <a:latin typeface="Trebuchet MS"/>
                <a:cs typeface="Trebuchet MS"/>
              </a:rPr>
              <a:t>Track</a:t>
            </a:r>
            <a:r>
              <a:rPr sz="1600" spc="-114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patient</a:t>
            </a:r>
            <a:r>
              <a:rPr sz="1600" spc="-10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393939"/>
                </a:solidFill>
                <a:latin typeface="Trebuchet MS"/>
                <a:cs typeface="Trebuchet MS"/>
              </a:rPr>
              <a:t>satisfaction</a:t>
            </a:r>
            <a:r>
              <a:rPr sz="1600" spc="-10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393939"/>
                </a:solidFill>
                <a:latin typeface="Trebuchet MS"/>
                <a:cs typeface="Trebuchet MS"/>
              </a:rPr>
              <a:t>trends</a:t>
            </a:r>
            <a:r>
              <a:rPr sz="1600" spc="-70" dirty="0">
                <a:solidFill>
                  <a:srgbClr val="393939"/>
                </a:solidFill>
                <a:latin typeface="Trebuchet MS"/>
                <a:cs typeface="Trebuchet MS"/>
              </a:rPr>
              <a:t> to</a:t>
            </a:r>
            <a:r>
              <a:rPr sz="1600" spc="-9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improve</a:t>
            </a:r>
            <a:endParaRPr sz="1600">
              <a:latin typeface="Trebuchet MS"/>
              <a:cs typeface="Trebuchet MS"/>
            </a:endParaRPr>
          </a:p>
          <a:p>
            <a:pPr marL="756285">
              <a:lnSpc>
                <a:spcPct val="100000"/>
              </a:lnSpc>
              <a:spcBef>
                <a:spcPts val="960"/>
              </a:spcBef>
            </a:pP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healthcare</a:t>
            </a:r>
            <a:r>
              <a:rPr sz="1600" spc="-6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services.</a:t>
            </a:r>
            <a:endParaRPr sz="16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4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800" spc="-35" dirty="0">
                <a:latin typeface="Trebuchet MS"/>
                <a:cs typeface="Trebuchet MS"/>
              </a:rPr>
              <a:t>Emergency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vs.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Non-</a:t>
            </a:r>
            <a:r>
              <a:rPr sz="1800" spc="-35" dirty="0">
                <a:latin typeface="Trebuchet MS"/>
                <a:cs typeface="Trebuchet MS"/>
              </a:rPr>
              <a:t>Emergency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Visits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0057" y="3082188"/>
            <a:ext cx="4688840" cy="116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5080" indent="-287020">
              <a:lnSpc>
                <a:spcPct val="150000"/>
              </a:lnSpc>
              <a:spcBef>
                <a:spcPts val="100"/>
              </a:spcBef>
              <a:buClr>
                <a:srgbClr val="15E8C5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dirty="0">
                <a:solidFill>
                  <a:srgbClr val="393939"/>
                </a:solidFill>
                <a:latin typeface="Trebuchet MS"/>
                <a:cs typeface="Trebuchet MS"/>
              </a:rPr>
              <a:t>Compare</a:t>
            </a:r>
            <a:r>
              <a:rPr sz="1600" spc="-9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the</a:t>
            </a:r>
            <a:r>
              <a:rPr sz="1600" spc="-13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393939"/>
                </a:solidFill>
                <a:latin typeface="Trebuchet MS"/>
                <a:cs typeface="Trebuchet MS"/>
              </a:rPr>
              <a:t>number</a:t>
            </a:r>
            <a:r>
              <a:rPr sz="1600" spc="-8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393939"/>
                </a:solidFill>
                <a:latin typeface="Trebuchet MS"/>
                <a:cs typeface="Trebuchet MS"/>
              </a:rPr>
              <a:t>of</a:t>
            </a:r>
            <a:r>
              <a:rPr sz="1600" spc="-12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emergency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393939"/>
                </a:solidFill>
                <a:latin typeface="Trebuchet MS"/>
                <a:cs typeface="Trebuchet MS"/>
              </a:rPr>
              <a:t>and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393939"/>
                </a:solidFill>
                <a:latin typeface="Trebuchet MS"/>
                <a:cs typeface="Trebuchet MS"/>
              </a:rPr>
              <a:t>non- </a:t>
            </a: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emergency</a:t>
            </a:r>
            <a:r>
              <a:rPr sz="1600" spc="-10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393939"/>
                </a:solidFill>
                <a:latin typeface="Trebuchet MS"/>
                <a:cs typeface="Trebuchet MS"/>
              </a:rPr>
              <a:t>visits</a:t>
            </a:r>
            <a:r>
              <a:rPr sz="1600" spc="-12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80" dirty="0">
                <a:solidFill>
                  <a:srgbClr val="393939"/>
                </a:solidFill>
                <a:latin typeface="Trebuchet MS"/>
                <a:cs typeface="Trebuchet MS"/>
              </a:rPr>
              <a:t>for</a:t>
            </a:r>
            <a:r>
              <a:rPr sz="1600" spc="-9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393939"/>
                </a:solidFill>
                <a:latin typeface="Trebuchet MS"/>
                <a:cs typeface="Trebuchet MS"/>
              </a:rPr>
              <a:t>resource</a:t>
            </a:r>
            <a:r>
              <a:rPr sz="1600" spc="-8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allocation.</a:t>
            </a:r>
            <a:endParaRPr sz="16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35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800" spc="-10" dirty="0">
                <a:latin typeface="Trebuchet MS"/>
                <a:cs typeface="Trebuchet MS"/>
              </a:rPr>
              <a:t>Insurance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Coverage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Breakdown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17257" y="4225569"/>
            <a:ext cx="43656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15E8C5"/>
              </a:buClr>
              <a:buFont typeface="Wingdings"/>
              <a:buChar char=""/>
              <a:tabLst>
                <a:tab pos="299085" algn="l"/>
              </a:tabLst>
            </a:pPr>
            <a:r>
              <a:rPr sz="1600" spc="-50" dirty="0">
                <a:solidFill>
                  <a:srgbClr val="393939"/>
                </a:solidFill>
                <a:latin typeface="Trebuchet MS"/>
                <a:cs typeface="Trebuchet MS"/>
              </a:rPr>
              <a:t>Analyze</a:t>
            </a:r>
            <a:r>
              <a:rPr sz="1600" spc="-11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65" dirty="0">
                <a:solidFill>
                  <a:srgbClr val="393939"/>
                </a:solidFill>
                <a:latin typeface="Trebuchet MS"/>
                <a:cs typeface="Trebuchet MS"/>
              </a:rPr>
              <a:t>the</a:t>
            </a:r>
            <a:r>
              <a:rPr sz="1600" spc="-12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30" dirty="0">
                <a:solidFill>
                  <a:srgbClr val="393939"/>
                </a:solidFill>
                <a:latin typeface="Trebuchet MS"/>
                <a:cs typeface="Trebuchet MS"/>
              </a:rPr>
              <a:t>types</a:t>
            </a:r>
            <a:r>
              <a:rPr sz="1600" spc="-114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393939"/>
                </a:solidFill>
                <a:latin typeface="Trebuchet MS"/>
                <a:cs typeface="Trebuchet MS"/>
              </a:rPr>
              <a:t>of</a:t>
            </a:r>
            <a:r>
              <a:rPr sz="1600" spc="-9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393939"/>
                </a:solidFill>
                <a:latin typeface="Trebuchet MS"/>
                <a:cs typeface="Trebuchet MS"/>
              </a:rPr>
              <a:t>insurance</a:t>
            </a:r>
            <a:r>
              <a:rPr sz="1600" spc="-8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45" dirty="0">
                <a:solidFill>
                  <a:srgbClr val="393939"/>
                </a:solidFill>
                <a:latin typeface="Trebuchet MS"/>
                <a:cs typeface="Trebuchet MS"/>
              </a:rPr>
              <a:t>patients</a:t>
            </a:r>
            <a:r>
              <a:rPr sz="1600" spc="-12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hold</a:t>
            </a:r>
            <a:r>
              <a:rPr sz="1600" spc="-105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393939"/>
                </a:solidFill>
                <a:latin typeface="Trebuchet MS"/>
                <a:cs typeface="Trebuchet MS"/>
              </a:rPr>
              <a:t>to </a:t>
            </a:r>
            <a:r>
              <a:rPr sz="1600" spc="-55" dirty="0">
                <a:solidFill>
                  <a:srgbClr val="393939"/>
                </a:solidFill>
                <a:latin typeface="Trebuchet MS"/>
                <a:cs typeface="Trebuchet MS"/>
              </a:rPr>
              <a:t>optimize</a:t>
            </a:r>
            <a:r>
              <a:rPr sz="1600" spc="-8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55" dirty="0">
                <a:solidFill>
                  <a:srgbClr val="393939"/>
                </a:solidFill>
                <a:latin typeface="Trebuchet MS"/>
                <a:cs typeface="Trebuchet MS"/>
              </a:rPr>
              <a:t>billing</a:t>
            </a:r>
            <a:r>
              <a:rPr sz="1600" spc="-100" dirty="0">
                <a:solidFill>
                  <a:srgbClr val="393939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393939"/>
                </a:solidFill>
                <a:latin typeface="Trebuchet MS"/>
                <a:cs typeface="Trebuchet MS"/>
              </a:rPr>
              <a:t>practices.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115929" y="635380"/>
            <a:ext cx="794385" cy="797560"/>
            <a:chOff x="11115929" y="635380"/>
            <a:chExt cx="794385" cy="797560"/>
          </a:xfrm>
        </p:grpSpPr>
        <p:sp>
          <p:nvSpPr>
            <p:cNvPr id="10" name="object 10"/>
            <p:cNvSpPr/>
            <p:nvPr/>
          </p:nvSpPr>
          <p:spPr>
            <a:xfrm>
              <a:off x="11115929" y="635380"/>
              <a:ext cx="794385" cy="797560"/>
            </a:xfrm>
            <a:custGeom>
              <a:avLst/>
              <a:gdLst/>
              <a:ahLst/>
              <a:cxnLst/>
              <a:rect l="l" t="t" r="r" b="b"/>
              <a:pathLst>
                <a:path w="794384" h="797560">
                  <a:moveTo>
                    <a:pt x="661543" y="0"/>
                  </a:moveTo>
                  <a:lnTo>
                    <a:pt x="132334" y="0"/>
                  </a:lnTo>
                  <a:lnTo>
                    <a:pt x="90480" y="6740"/>
                  </a:lnTo>
                  <a:lnTo>
                    <a:pt x="54150" y="25513"/>
                  </a:lnTo>
                  <a:lnTo>
                    <a:pt x="25513" y="54150"/>
                  </a:lnTo>
                  <a:lnTo>
                    <a:pt x="6740" y="90480"/>
                  </a:lnTo>
                  <a:lnTo>
                    <a:pt x="0" y="132334"/>
                  </a:lnTo>
                  <a:lnTo>
                    <a:pt x="0" y="664845"/>
                  </a:lnTo>
                  <a:lnTo>
                    <a:pt x="6740" y="706698"/>
                  </a:lnTo>
                  <a:lnTo>
                    <a:pt x="25513" y="743028"/>
                  </a:lnTo>
                  <a:lnTo>
                    <a:pt x="54150" y="771665"/>
                  </a:lnTo>
                  <a:lnTo>
                    <a:pt x="90480" y="790438"/>
                  </a:lnTo>
                  <a:lnTo>
                    <a:pt x="132334" y="797179"/>
                  </a:lnTo>
                  <a:lnTo>
                    <a:pt x="661543" y="797179"/>
                  </a:lnTo>
                  <a:lnTo>
                    <a:pt x="703396" y="790438"/>
                  </a:lnTo>
                  <a:lnTo>
                    <a:pt x="739726" y="771665"/>
                  </a:lnTo>
                  <a:lnTo>
                    <a:pt x="768363" y="743028"/>
                  </a:lnTo>
                  <a:lnTo>
                    <a:pt x="787136" y="706698"/>
                  </a:lnTo>
                  <a:lnTo>
                    <a:pt x="793876" y="664845"/>
                  </a:lnTo>
                  <a:lnTo>
                    <a:pt x="793876" y="132334"/>
                  </a:lnTo>
                  <a:lnTo>
                    <a:pt x="787136" y="90480"/>
                  </a:lnTo>
                  <a:lnTo>
                    <a:pt x="768363" y="54150"/>
                  </a:lnTo>
                  <a:lnTo>
                    <a:pt x="739726" y="25513"/>
                  </a:lnTo>
                  <a:lnTo>
                    <a:pt x="703396" y="6740"/>
                  </a:lnTo>
                  <a:lnTo>
                    <a:pt x="661543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0295" y="765809"/>
              <a:ext cx="525145" cy="537210"/>
            </a:xfrm>
            <a:custGeom>
              <a:avLst/>
              <a:gdLst/>
              <a:ahLst/>
              <a:cxnLst/>
              <a:rect l="l" t="t" r="r" b="b"/>
              <a:pathLst>
                <a:path w="525145" h="537210">
                  <a:moveTo>
                    <a:pt x="525145" y="184150"/>
                  </a:moveTo>
                  <a:lnTo>
                    <a:pt x="346583" y="184150"/>
                  </a:lnTo>
                  <a:lnTo>
                    <a:pt x="346583" y="0"/>
                  </a:lnTo>
                  <a:lnTo>
                    <a:pt x="178562" y="0"/>
                  </a:lnTo>
                  <a:lnTo>
                    <a:pt x="178562" y="184150"/>
                  </a:lnTo>
                  <a:lnTo>
                    <a:pt x="0" y="184150"/>
                  </a:lnTo>
                  <a:lnTo>
                    <a:pt x="0" y="351790"/>
                  </a:lnTo>
                  <a:lnTo>
                    <a:pt x="178562" y="351790"/>
                  </a:lnTo>
                  <a:lnTo>
                    <a:pt x="178562" y="537210"/>
                  </a:lnTo>
                  <a:lnTo>
                    <a:pt x="346583" y="537210"/>
                  </a:lnTo>
                  <a:lnTo>
                    <a:pt x="346583" y="351790"/>
                  </a:lnTo>
                  <a:lnTo>
                    <a:pt x="525145" y="351790"/>
                  </a:lnTo>
                  <a:lnTo>
                    <a:pt x="525145" y="18415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895" y="817626"/>
            <a:ext cx="2987040" cy="12503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ct val="88400"/>
              </a:lnSpc>
              <a:spcBef>
                <a:spcPts val="505"/>
              </a:spcBef>
            </a:pPr>
            <a:r>
              <a:rPr sz="2900" dirty="0"/>
              <a:t>Key</a:t>
            </a:r>
            <a:r>
              <a:rPr sz="2900" spc="-65" dirty="0"/>
              <a:t> </a:t>
            </a:r>
            <a:r>
              <a:rPr sz="2900" spc="-10" dirty="0"/>
              <a:t>Performance </a:t>
            </a:r>
            <a:r>
              <a:rPr sz="2900" dirty="0"/>
              <a:t>Indicators</a:t>
            </a:r>
            <a:r>
              <a:rPr sz="2900" spc="-20" dirty="0"/>
              <a:t> </a:t>
            </a:r>
            <a:r>
              <a:rPr sz="2900" spc="-25" dirty="0"/>
              <a:t>for </a:t>
            </a:r>
            <a:r>
              <a:rPr sz="2900" spc="-10" dirty="0"/>
              <a:t>Patients</a:t>
            </a:r>
            <a:endParaRPr sz="2900"/>
          </a:p>
        </p:txBody>
      </p:sp>
      <p:sp>
        <p:nvSpPr>
          <p:cNvPr id="3" name="object 3"/>
          <p:cNvSpPr txBox="1"/>
          <p:nvPr/>
        </p:nvSpPr>
        <p:spPr>
          <a:xfrm>
            <a:off x="564895" y="2160777"/>
            <a:ext cx="2907030" cy="431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5"/>
              </a:spcBef>
            </a:pP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Analyzing</a:t>
            </a:r>
            <a:r>
              <a:rPr sz="1400" spc="-5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patient</a:t>
            </a:r>
            <a:r>
              <a:rPr sz="1400" spc="-3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metrics</a:t>
            </a:r>
            <a:r>
              <a:rPr sz="1400" spc="-5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for</a:t>
            </a:r>
            <a:r>
              <a:rPr sz="1400" spc="-6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13745"/>
                </a:solidFill>
                <a:latin typeface="Calibri"/>
                <a:cs typeface="Calibri"/>
              </a:rPr>
              <a:t>healthcare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</a:pPr>
            <a:r>
              <a:rPr sz="1400" spc="-10" dirty="0">
                <a:solidFill>
                  <a:srgbClr val="313745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9302" y="818591"/>
            <a:ext cx="5607050" cy="5292725"/>
            <a:chOff x="6099302" y="818591"/>
            <a:chExt cx="5607050" cy="5292725"/>
          </a:xfrm>
        </p:grpSpPr>
        <p:sp>
          <p:nvSpPr>
            <p:cNvPr id="5" name="object 5"/>
            <p:cNvSpPr/>
            <p:nvPr/>
          </p:nvSpPr>
          <p:spPr>
            <a:xfrm>
              <a:off x="6099302" y="818590"/>
              <a:ext cx="5607050" cy="756285"/>
            </a:xfrm>
            <a:custGeom>
              <a:avLst/>
              <a:gdLst/>
              <a:ahLst/>
              <a:cxnLst/>
              <a:rect l="l" t="t" r="r" b="b"/>
              <a:pathLst>
                <a:path w="5607050" h="756285">
                  <a:moveTo>
                    <a:pt x="3706749" y="0"/>
                  </a:moveTo>
                  <a:lnTo>
                    <a:pt x="0" y="0"/>
                  </a:lnTo>
                  <a:lnTo>
                    <a:pt x="0" y="756081"/>
                  </a:lnTo>
                  <a:lnTo>
                    <a:pt x="3706749" y="756081"/>
                  </a:lnTo>
                  <a:lnTo>
                    <a:pt x="3706749" y="0"/>
                  </a:lnTo>
                  <a:close/>
                </a:path>
                <a:path w="5607050" h="756285">
                  <a:moveTo>
                    <a:pt x="5606796" y="0"/>
                  </a:moveTo>
                  <a:lnTo>
                    <a:pt x="3706876" y="0"/>
                  </a:lnTo>
                  <a:lnTo>
                    <a:pt x="3706876" y="756081"/>
                  </a:lnTo>
                  <a:lnTo>
                    <a:pt x="5606796" y="756081"/>
                  </a:lnTo>
                  <a:lnTo>
                    <a:pt x="5606796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9302" y="1574748"/>
              <a:ext cx="5607050" cy="4537075"/>
            </a:xfrm>
            <a:custGeom>
              <a:avLst/>
              <a:gdLst/>
              <a:ahLst/>
              <a:cxnLst/>
              <a:rect l="l" t="t" r="r" b="b"/>
              <a:pathLst>
                <a:path w="5607050" h="4537075">
                  <a:moveTo>
                    <a:pt x="3706749" y="3024378"/>
                  </a:moveTo>
                  <a:lnTo>
                    <a:pt x="0" y="3024378"/>
                  </a:lnTo>
                  <a:lnTo>
                    <a:pt x="0" y="3780409"/>
                  </a:lnTo>
                  <a:lnTo>
                    <a:pt x="0" y="4536491"/>
                  </a:lnTo>
                  <a:lnTo>
                    <a:pt x="3706749" y="4536491"/>
                  </a:lnTo>
                  <a:lnTo>
                    <a:pt x="3706749" y="3780459"/>
                  </a:lnTo>
                  <a:lnTo>
                    <a:pt x="3706749" y="3024378"/>
                  </a:lnTo>
                  <a:close/>
                </a:path>
                <a:path w="5607050" h="4537075">
                  <a:moveTo>
                    <a:pt x="3706749" y="1512189"/>
                  </a:moveTo>
                  <a:lnTo>
                    <a:pt x="0" y="1512189"/>
                  </a:lnTo>
                  <a:lnTo>
                    <a:pt x="0" y="2268220"/>
                  </a:lnTo>
                  <a:lnTo>
                    <a:pt x="0" y="3024301"/>
                  </a:lnTo>
                  <a:lnTo>
                    <a:pt x="3706749" y="3024301"/>
                  </a:lnTo>
                  <a:lnTo>
                    <a:pt x="3706749" y="2268270"/>
                  </a:lnTo>
                  <a:lnTo>
                    <a:pt x="3706749" y="1512189"/>
                  </a:lnTo>
                  <a:close/>
                </a:path>
                <a:path w="5607050" h="4537075">
                  <a:moveTo>
                    <a:pt x="3706749" y="0"/>
                  </a:moveTo>
                  <a:lnTo>
                    <a:pt x="0" y="0"/>
                  </a:lnTo>
                  <a:lnTo>
                    <a:pt x="0" y="756031"/>
                  </a:lnTo>
                  <a:lnTo>
                    <a:pt x="0" y="1512112"/>
                  </a:lnTo>
                  <a:lnTo>
                    <a:pt x="3706749" y="1512112"/>
                  </a:lnTo>
                  <a:lnTo>
                    <a:pt x="3706749" y="756081"/>
                  </a:lnTo>
                  <a:lnTo>
                    <a:pt x="3706749" y="0"/>
                  </a:lnTo>
                  <a:close/>
                </a:path>
                <a:path w="5607050" h="4537075">
                  <a:moveTo>
                    <a:pt x="5606796" y="3024378"/>
                  </a:moveTo>
                  <a:lnTo>
                    <a:pt x="3706876" y="3024378"/>
                  </a:lnTo>
                  <a:lnTo>
                    <a:pt x="3706876" y="3780409"/>
                  </a:lnTo>
                  <a:lnTo>
                    <a:pt x="3706876" y="4536491"/>
                  </a:lnTo>
                  <a:lnTo>
                    <a:pt x="5606796" y="4536491"/>
                  </a:lnTo>
                  <a:lnTo>
                    <a:pt x="5606796" y="3780459"/>
                  </a:lnTo>
                  <a:lnTo>
                    <a:pt x="5606796" y="3024378"/>
                  </a:lnTo>
                  <a:close/>
                </a:path>
                <a:path w="5607050" h="4537075">
                  <a:moveTo>
                    <a:pt x="5606796" y="1512189"/>
                  </a:moveTo>
                  <a:lnTo>
                    <a:pt x="3706876" y="1512189"/>
                  </a:lnTo>
                  <a:lnTo>
                    <a:pt x="3706876" y="2268220"/>
                  </a:lnTo>
                  <a:lnTo>
                    <a:pt x="3706876" y="3024301"/>
                  </a:lnTo>
                  <a:lnTo>
                    <a:pt x="5606796" y="3024301"/>
                  </a:lnTo>
                  <a:lnTo>
                    <a:pt x="5606796" y="2268270"/>
                  </a:lnTo>
                  <a:lnTo>
                    <a:pt x="5606796" y="1512189"/>
                  </a:lnTo>
                  <a:close/>
                </a:path>
                <a:path w="5607050" h="4537075">
                  <a:moveTo>
                    <a:pt x="5606796" y="0"/>
                  </a:moveTo>
                  <a:lnTo>
                    <a:pt x="3706876" y="0"/>
                  </a:lnTo>
                  <a:lnTo>
                    <a:pt x="3706876" y="756031"/>
                  </a:lnTo>
                  <a:lnTo>
                    <a:pt x="3706876" y="1512112"/>
                  </a:lnTo>
                  <a:lnTo>
                    <a:pt x="5606796" y="1512112"/>
                  </a:lnTo>
                  <a:lnTo>
                    <a:pt x="5606796" y="756081"/>
                  </a:lnTo>
                  <a:lnTo>
                    <a:pt x="5606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195567" y="1072186"/>
          <a:ext cx="4992370" cy="5036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284">
                <a:tc>
                  <a:txBody>
                    <a:bodyPr/>
                    <a:lstStyle/>
                    <a:p>
                      <a:pPr marR="299085" algn="ctr">
                        <a:lnSpc>
                          <a:spcPts val="1820"/>
                        </a:lnSpc>
                      </a:pPr>
                      <a:r>
                        <a:rPr sz="1600" b="1" spc="-25" dirty="0">
                          <a:solidFill>
                            <a:srgbClr val="0A769F"/>
                          </a:solidFill>
                          <a:latin typeface="Trebuchet MS"/>
                          <a:cs typeface="Trebuchet MS"/>
                        </a:rPr>
                        <a:t>KPI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15E8C5"/>
                    </a:solidFill>
                  </a:tcPr>
                </a:tc>
                <a:tc>
                  <a:txBody>
                    <a:bodyPr/>
                    <a:lstStyle/>
                    <a:p>
                      <a:pPr marL="308610" algn="ctr">
                        <a:lnSpc>
                          <a:spcPts val="1820"/>
                        </a:lnSpc>
                      </a:pPr>
                      <a:r>
                        <a:rPr sz="1600" b="1" spc="-10" dirty="0">
                          <a:solidFill>
                            <a:srgbClr val="0A769F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15E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1800" spc="-110" dirty="0"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8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Patients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88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9880" algn="ctr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5000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88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800" spc="-65" dirty="0">
                          <a:latin typeface="Trebuchet MS"/>
                          <a:cs typeface="Trebuchet MS"/>
                        </a:rPr>
                        <a:t>Average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Patient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Satisfaction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Score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79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7975"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4.00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79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-55" dirty="0">
                          <a:latin typeface="Trebuchet MS"/>
                          <a:cs typeface="Trebuchet MS"/>
                        </a:rPr>
                        <a:t>Percentage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Emergency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Visits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154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7340" algn="ctr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38.58%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154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765810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-40" dirty="0">
                          <a:latin typeface="Trebuchet MS"/>
                          <a:cs typeface="Trebuchet MS"/>
                        </a:rPr>
                        <a:t>Follow-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Up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Visit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Rate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154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7340" algn="ctr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50.14%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154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Average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Treatment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Cost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Patient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79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7975"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$526.08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79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6920">
                <a:tc>
                  <a:txBody>
                    <a:bodyPr/>
                    <a:lstStyle/>
                    <a:p>
                      <a:pPr marR="300990"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800" spc="-55" dirty="0">
                          <a:latin typeface="Trebuchet MS"/>
                          <a:cs typeface="Trebuchet MS"/>
                        </a:rPr>
                        <a:t>Percentage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Unpaid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Visits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79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07340"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38.30%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479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309365"/>
            <a:ext cx="5153025" cy="3549015"/>
            <a:chOff x="0" y="3309365"/>
            <a:chExt cx="5153025" cy="3549015"/>
          </a:xfrm>
        </p:grpSpPr>
        <p:sp>
          <p:nvSpPr>
            <p:cNvPr id="9" name="object 9"/>
            <p:cNvSpPr/>
            <p:nvPr/>
          </p:nvSpPr>
          <p:spPr>
            <a:xfrm>
              <a:off x="0" y="3309365"/>
              <a:ext cx="4677410" cy="3549015"/>
            </a:xfrm>
            <a:custGeom>
              <a:avLst/>
              <a:gdLst/>
              <a:ahLst/>
              <a:cxnLst/>
              <a:rect l="l" t="t" r="r" b="b"/>
              <a:pathLst>
                <a:path w="4677410" h="3549015">
                  <a:moveTo>
                    <a:pt x="4323334" y="0"/>
                  </a:moveTo>
                  <a:lnTo>
                    <a:pt x="0" y="0"/>
                  </a:lnTo>
                  <a:lnTo>
                    <a:pt x="0" y="3548634"/>
                  </a:lnTo>
                  <a:lnTo>
                    <a:pt x="4677156" y="3548633"/>
                  </a:lnTo>
                  <a:lnTo>
                    <a:pt x="4677156" y="353695"/>
                  </a:lnTo>
                  <a:lnTo>
                    <a:pt x="4673926" y="305703"/>
                  </a:lnTo>
                  <a:lnTo>
                    <a:pt x="4664520" y="259673"/>
                  </a:lnTo>
                  <a:lnTo>
                    <a:pt x="4649356" y="216027"/>
                  </a:lnTo>
                  <a:lnTo>
                    <a:pt x="4628858" y="175184"/>
                  </a:lnTo>
                  <a:lnTo>
                    <a:pt x="4603445" y="137568"/>
                  </a:lnTo>
                  <a:lnTo>
                    <a:pt x="4573539" y="103600"/>
                  </a:lnTo>
                  <a:lnTo>
                    <a:pt x="4539562" y="73701"/>
                  </a:lnTo>
                  <a:lnTo>
                    <a:pt x="4501933" y="48292"/>
                  </a:lnTo>
                  <a:lnTo>
                    <a:pt x="4461075" y="27797"/>
                  </a:lnTo>
                  <a:lnTo>
                    <a:pt x="4417408" y="12635"/>
                  </a:lnTo>
                  <a:lnTo>
                    <a:pt x="4371354" y="3229"/>
                  </a:lnTo>
                  <a:lnTo>
                    <a:pt x="4323334" y="0"/>
                  </a:lnTo>
                  <a:close/>
                </a:path>
              </a:pathLst>
            </a:custGeom>
            <a:solidFill>
              <a:srgbClr val="003E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01540" y="5156199"/>
              <a:ext cx="951230" cy="955040"/>
            </a:xfrm>
            <a:custGeom>
              <a:avLst/>
              <a:gdLst/>
              <a:ahLst/>
              <a:cxnLst/>
              <a:rect l="l" t="t" r="r" b="b"/>
              <a:pathLst>
                <a:path w="951229" h="955039">
                  <a:moveTo>
                    <a:pt x="792607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796518"/>
                  </a:lnTo>
                  <a:lnTo>
                    <a:pt x="8083" y="846625"/>
                  </a:lnTo>
                  <a:lnTo>
                    <a:pt x="30589" y="890141"/>
                  </a:lnTo>
                  <a:lnTo>
                    <a:pt x="64904" y="924455"/>
                  </a:lnTo>
                  <a:lnTo>
                    <a:pt x="108411" y="946958"/>
                  </a:lnTo>
                  <a:lnTo>
                    <a:pt x="158496" y="955040"/>
                  </a:lnTo>
                  <a:lnTo>
                    <a:pt x="792607" y="955040"/>
                  </a:lnTo>
                  <a:lnTo>
                    <a:pt x="842691" y="946958"/>
                  </a:lnTo>
                  <a:lnTo>
                    <a:pt x="886198" y="924455"/>
                  </a:lnTo>
                  <a:lnTo>
                    <a:pt x="920513" y="890141"/>
                  </a:lnTo>
                  <a:lnTo>
                    <a:pt x="943019" y="846625"/>
                  </a:lnTo>
                  <a:lnTo>
                    <a:pt x="951103" y="796518"/>
                  </a:lnTo>
                  <a:lnTo>
                    <a:pt x="951103" y="158496"/>
                  </a:lnTo>
                  <a:lnTo>
                    <a:pt x="943019" y="108411"/>
                  </a:lnTo>
                  <a:lnTo>
                    <a:pt x="920513" y="64904"/>
                  </a:lnTo>
                  <a:lnTo>
                    <a:pt x="886198" y="30589"/>
                  </a:lnTo>
                  <a:lnTo>
                    <a:pt x="842691" y="8083"/>
                  </a:lnTo>
                  <a:lnTo>
                    <a:pt x="792607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2577" y="5311139"/>
              <a:ext cx="629285" cy="645160"/>
            </a:xfrm>
            <a:custGeom>
              <a:avLst/>
              <a:gdLst/>
              <a:ahLst/>
              <a:cxnLst/>
              <a:rect l="l" t="t" r="r" b="b"/>
              <a:pathLst>
                <a:path w="629285" h="645160">
                  <a:moveTo>
                    <a:pt x="629031" y="222250"/>
                  </a:moveTo>
                  <a:lnTo>
                    <a:pt x="415163" y="222250"/>
                  </a:lnTo>
                  <a:lnTo>
                    <a:pt x="415163" y="0"/>
                  </a:lnTo>
                  <a:lnTo>
                    <a:pt x="213868" y="0"/>
                  </a:lnTo>
                  <a:lnTo>
                    <a:pt x="213868" y="222250"/>
                  </a:lnTo>
                  <a:lnTo>
                    <a:pt x="0" y="222250"/>
                  </a:lnTo>
                  <a:lnTo>
                    <a:pt x="0" y="422910"/>
                  </a:lnTo>
                  <a:lnTo>
                    <a:pt x="213868" y="422910"/>
                  </a:lnTo>
                  <a:lnTo>
                    <a:pt x="213868" y="645160"/>
                  </a:lnTo>
                  <a:lnTo>
                    <a:pt x="415163" y="645160"/>
                  </a:lnTo>
                  <a:lnTo>
                    <a:pt x="415163" y="422910"/>
                  </a:lnTo>
                  <a:lnTo>
                    <a:pt x="629031" y="422910"/>
                  </a:lnTo>
                  <a:lnTo>
                    <a:pt x="629031" y="22225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DE654E4-584A-50E0-BE1F-B99FE13C99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09365"/>
            <a:ext cx="4677411" cy="35486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100"/>
              </a:spcBef>
            </a:pPr>
            <a:r>
              <a:rPr dirty="0"/>
              <a:t>Doctors</a:t>
            </a:r>
            <a:r>
              <a:rPr spc="-110" dirty="0"/>
              <a:t> </a:t>
            </a:r>
            <a:r>
              <a:rPr dirty="0"/>
              <a:t>Report</a:t>
            </a:r>
            <a:r>
              <a:rPr spc="-12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3670" y="855091"/>
            <a:ext cx="4270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Analyzing</a:t>
            </a:r>
            <a:r>
              <a:rPr sz="1600" spc="-8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Performance</a:t>
            </a:r>
            <a:r>
              <a:rPr sz="1600" spc="-3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Across</a:t>
            </a:r>
            <a:r>
              <a:rPr sz="1600" spc="-4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Healthcare</a:t>
            </a:r>
            <a:r>
              <a:rPr sz="1600" spc="-6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Providers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416" y="1504594"/>
            <a:ext cx="5372100" cy="468693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4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Purpose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of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the</a:t>
            </a:r>
            <a:r>
              <a:rPr sz="1600" b="1" spc="-1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Doctors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 Report</a:t>
            </a:r>
            <a:endParaRPr sz="1600">
              <a:latin typeface="Nirmala UI"/>
              <a:cs typeface="Nirmala UI"/>
            </a:endParaRPr>
          </a:p>
          <a:p>
            <a:pPr marL="276225" marR="578485">
              <a:lnSpc>
                <a:spcPct val="100000"/>
              </a:lnSpc>
              <a:spcBef>
                <a:spcPts val="540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report</a:t>
            </a:r>
            <a:r>
              <a:rPr sz="1600" spc="-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evaluates</a:t>
            </a:r>
            <a:r>
              <a:rPr sz="1600" spc="-5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doctors'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performance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enhance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healthcare</a:t>
            </a:r>
            <a:r>
              <a:rPr sz="1600" spc="-8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delivery.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6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Visits</a:t>
            </a:r>
            <a:r>
              <a:rPr sz="1600" b="1" spc="-4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per</a:t>
            </a:r>
            <a:r>
              <a:rPr sz="1600" b="1" spc="-2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Doctor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 Visualization</a:t>
            </a:r>
            <a:endParaRPr sz="1600">
              <a:latin typeface="Nirmala UI"/>
              <a:cs typeface="Nirmala UI"/>
            </a:endParaRPr>
          </a:p>
          <a:p>
            <a:pPr marL="276225">
              <a:lnSpc>
                <a:spcPct val="100000"/>
              </a:lnSpc>
              <a:spcBef>
                <a:spcPts val="540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Bar chart</a:t>
            </a:r>
            <a:r>
              <a:rPr sz="16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illustrating</a:t>
            </a:r>
            <a:r>
              <a:rPr sz="16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the</a:t>
            </a:r>
            <a:r>
              <a:rPr sz="16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number</a:t>
            </a:r>
            <a:r>
              <a:rPr sz="1600" spc="-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of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visits</a:t>
            </a:r>
            <a:r>
              <a:rPr sz="16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for each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doctor.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6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Doctor</a:t>
            </a:r>
            <a:r>
              <a:rPr sz="1600" b="1" spc="-3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Satisfaction</a:t>
            </a:r>
            <a:r>
              <a:rPr sz="1600" b="1" spc="-6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Scores</a:t>
            </a:r>
            <a:endParaRPr sz="1600">
              <a:latin typeface="Nirmala UI"/>
              <a:cs typeface="Nirmala UI"/>
            </a:endParaRPr>
          </a:p>
          <a:p>
            <a:pPr marL="276225" marR="322580">
              <a:lnSpc>
                <a:spcPct val="100000"/>
              </a:lnSpc>
              <a:spcBef>
                <a:spcPts val="540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Visual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representation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of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satisfaction</a:t>
            </a:r>
            <a:r>
              <a:rPr sz="1600" spc="-6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scores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collected</a:t>
            </a:r>
            <a:r>
              <a:rPr sz="16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090E20"/>
                </a:solidFill>
                <a:latin typeface="Calibri"/>
                <a:cs typeface="Calibri"/>
              </a:rPr>
              <a:t>from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patients.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6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Procedures</a:t>
            </a:r>
            <a:r>
              <a:rPr sz="1600" b="1" spc="-2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by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Each</a:t>
            </a:r>
            <a:r>
              <a:rPr sz="1600" b="1" spc="-2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Doctor</a:t>
            </a:r>
            <a:endParaRPr sz="1600">
              <a:latin typeface="Nirmala UI"/>
              <a:cs typeface="Nirmala UI"/>
            </a:endParaRPr>
          </a:p>
          <a:p>
            <a:pPr marL="276225" marR="5080">
              <a:lnSpc>
                <a:spcPct val="100000"/>
              </a:lnSpc>
              <a:spcBef>
                <a:spcPts val="545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Heatmap</a:t>
            </a:r>
            <a:r>
              <a:rPr sz="1600" spc="-6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showcasing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procedures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performed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by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individual doctor.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6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Department-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wise</a:t>
            </a:r>
            <a:r>
              <a:rPr sz="1600" b="1" spc="4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Contribution</a:t>
            </a:r>
            <a:endParaRPr sz="1600">
              <a:latin typeface="Nirmala UI"/>
              <a:cs typeface="Nirmala UI"/>
            </a:endParaRPr>
          </a:p>
          <a:p>
            <a:pPr marL="276225" marR="136525">
              <a:lnSpc>
                <a:spcPct val="100000"/>
              </a:lnSpc>
              <a:spcBef>
                <a:spcPts val="540"/>
              </a:spcBef>
            </a:pP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Breakdown</a:t>
            </a:r>
            <a:r>
              <a:rPr sz="1600" spc="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of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doctor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contributions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by</a:t>
            </a:r>
            <a:r>
              <a:rPr sz="16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department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assess efficiency.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6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Success</a:t>
            </a:r>
            <a:r>
              <a:rPr sz="1600" b="1" spc="-4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Rate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of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 Doctors</a:t>
            </a:r>
            <a:endParaRPr sz="1600">
              <a:latin typeface="Nirmala UI"/>
              <a:cs typeface="Nirmala UI"/>
            </a:endParaRPr>
          </a:p>
          <a:p>
            <a:pPr marL="276225" marR="590550">
              <a:lnSpc>
                <a:spcPts val="1900"/>
              </a:lnSpc>
              <a:spcBef>
                <a:spcPts val="620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Analysis</a:t>
            </a:r>
            <a:r>
              <a:rPr sz="1600" spc="-7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of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success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rate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achieved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by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each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doctor</a:t>
            </a:r>
            <a:r>
              <a:rPr sz="16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in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treatment.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0057" y="1573784"/>
            <a:ext cx="4337050" cy="74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ts val="1889"/>
              </a:lnSpc>
              <a:spcBef>
                <a:spcPts val="95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Doctors</a:t>
            </a:r>
            <a:r>
              <a:rPr sz="1600" b="1" spc="-5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Nationality</a:t>
            </a:r>
            <a:r>
              <a:rPr sz="1600" b="1" spc="-6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25" dirty="0">
                <a:solidFill>
                  <a:srgbClr val="090E20"/>
                </a:solidFill>
                <a:latin typeface="Nirmala UI"/>
                <a:cs typeface="Nirmala UI"/>
              </a:rPr>
              <a:t>Map</a:t>
            </a:r>
            <a:endParaRPr sz="1600">
              <a:latin typeface="Nirmala UI"/>
              <a:cs typeface="Nirmala UI"/>
            </a:endParaRPr>
          </a:p>
          <a:p>
            <a:pPr marL="276225" marR="5080">
              <a:lnSpc>
                <a:spcPts val="1920"/>
              </a:lnSpc>
              <a:spcBef>
                <a:spcPts val="35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Map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visualizing</a:t>
            </a:r>
            <a:r>
              <a:rPr sz="1600" spc="-5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the</a:t>
            </a:r>
            <a:r>
              <a:rPr sz="1600" spc="-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nationality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distribution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of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the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providers.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224386" y="616076"/>
            <a:ext cx="621030" cy="622935"/>
            <a:chOff x="11224386" y="616076"/>
            <a:chExt cx="621030" cy="622935"/>
          </a:xfrm>
        </p:grpSpPr>
        <p:sp>
          <p:nvSpPr>
            <p:cNvPr id="7" name="object 7"/>
            <p:cNvSpPr/>
            <p:nvPr/>
          </p:nvSpPr>
          <p:spPr>
            <a:xfrm>
              <a:off x="11224386" y="616076"/>
              <a:ext cx="621030" cy="622935"/>
            </a:xfrm>
            <a:custGeom>
              <a:avLst/>
              <a:gdLst/>
              <a:ahLst/>
              <a:cxnLst/>
              <a:rect l="l" t="t" r="r" b="b"/>
              <a:pathLst>
                <a:path w="621029" h="622935">
                  <a:moveTo>
                    <a:pt x="517017" y="0"/>
                  </a:moveTo>
                  <a:lnTo>
                    <a:pt x="103505" y="0"/>
                  </a:lnTo>
                  <a:lnTo>
                    <a:pt x="63222" y="8116"/>
                  </a:lnTo>
                  <a:lnTo>
                    <a:pt x="30321" y="30257"/>
                  </a:lnTo>
                  <a:lnTo>
                    <a:pt x="8135" y="63115"/>
                  </a:lnTo>
                  <a:lnTo>
                    <a:pt x="0" y="103377"/>
                  </a:lnTo>
                  <a:lnTo>
                    <a:pt x="0" y="519557"/>
                  </a:lnTo>
                  <a:lnTo>
                    <a:pt x="8135" y="559766"/>
                  </a:lnTo>
                  <a:lnTo>
                    <a:pt x="30321" y="592629"/>
                  </a:lnTo>
                  <a:lnTo>
                    <a:pt x="63222" y="614801"/>
                  </a:lnTo>
                  <a:lnTo>
                    <a:pt x="103505" y="622935"/>
                  </a:lnTo>
                  <a:lnTo>
                    <a:pt x="517017" y="622935"/>
                  </a:lnTo>
                  <a:lnTo>
                    <a:pt x="557299" y="614801"/>
                  </a:lnTo>
                  <a:lnTo>
                    <a:pt x="590200" y="592629"/>
                  </a:lnTo>
                  <a:lnTo>
                    <a:pt x="612386" y="559766"/>
                  </a:lnTo>
                  <a:lnTo>
                    <a:pt x="620522" y="519557"/>
                  </a:lnTo>
                  <a:lnTo>
                    <a:pt x="620522" y="103377"/>
                  </a:lnTo>
                  <a:lnTo>
                    <a:pt x="612386" y="63115"/>
                  </a:lnTo>
                  <a:lnTo>
                    <a:pt x="590200" y="30257"/>
                  </a:lnTo>
                  <a:lnTo>
                    <a:pt x="557299" y="8116"/>
                  </a:lnTo>
                  <a:lnTo>
                    <a:pt x="517017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329416" y="717549"/>
              <a:ext cx="410845" cy="420370"/>
            </a:xfrm>
            <a:custGeom>
              <a:avLst/>
              <a:gdLst/>
              <a:ahLst/>
              <a:cxnLst/>
              <a:rect l="l" t="t" r="r" b="b"/>
              <a:pathLst>
                <a:path w="410845" h="420369">
                  <a:moveTo>
                    <a:pt x="410464" y="144780"/>
                  </a:moveTo>
                  <a:lnTo>
                    <a:pt x="270891" y="144780"/>
                  </a:lnTo>
                  <a:lnTo>
                    <a:pt x="270891" y="0"/>
                  </a:lnTo>
                  <a:lnTo>
                    <a:pt x="139573" y="0"/>
                  </a:lnTo>
                  <a:lnTo>
                    <a:pt x="139573" y="144780"/>
                  </a:lnTo>
                  <a:lnTo>
                    <a:pt x="0" y="144780"/>
                  </a:lnTo>
                  <a:lnTo>
                    <a:pt x="0" y="275590"/>
                  </a:lnTo>
                  <a:lnTo>
                    <a:pt x="139573" y="275590"/>
                  </a:lnTo>
                  <a:lnTo>
                    <a:pt x="139573" y="420370"/>
                  </a:lnTo>
                  <a:lnTo>
                    <a:pt x="270891" y="420370"/>
                  </a:lnTo>
                  <a:lnTo>
                    <a:pt x="270891" y="275590"/>
                  </a:lnTo>
                  <a:lnTo>
                    <a:pt x="410464" y="275590"/>
                  </a:lnTo>
                  <a:lnTo>
                    <a:pt x="410464" y="14478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30" dirty="0"/>
              <a:t> </a:t>
            </a:r>
            <a:r>
              <a:rPr dirty="0"/>
              <a:t>Performance</a:t>
            </a:r>
            <a:r>
              <a:rPr spc="-100" dirty="0"/>
              <a:t> </a:t>
            </a:r>
            <a:r>
              <a:rPr dirty="0"/>
              <a:t>Indicators</a:t>
            </a:r>
            <a:r>
              <a:rPr spc="-114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5694" y="855091"/>
            <a:ext cx="3886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Analyzing</a:t>
            </a:r>
            <a:r>
              <a:rPr sz="1600" spc="-6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performance</a:t>
            </a:r>
            <a:r>
              <a:rPr sz="1600" spc="-2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of</a:t>
            </a:r>
            <a:r>
              <a:rPr sz="1600" spc="-4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healthcare</a:t>
            </a:r>
            <a:r>
              <a:rPr sz="1600" spc="-5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providers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24386" y="616076"/>
            <a:ext cx="621030" cy="622935"/>
            <a:chOff x="11224386" y="616076"/>
            <a:chExt cx="621030" cy="622935"/>
          </a:xfrm>
        </p:grpSpPr>
        <p:sp>
          <p:nvSpPr>
            <p:cNvPr id="5" name="object 5"/>
            <p:cNvSpPr/>
            <p:nvPr/>
          </p:nvSpPr>
          <p:spPr>
            <a:xfrm>
              <a:off x="11224386" y="616076"/>
              <a:ext cx="621030" cy="622935"/>
            </a:xfrm>
            <a:custGeom>
              <a:avLst/>
              <a:gdLst/>
              <a:ahLst/>
              <a:cxnLst/>
              <a:rect l="l" t="t" r="r" b="b"/>
              <a:pathLst>
                <a:path w="621029" h="622935">
                  <a:moveTo>
                    <a:pt x="517017" y="0"/>
                  </a:moveTo>
                  <a:lnTo>
                    <a:pt x="103505" y="0"/>
                  </a:lnTo>
                  <a:lnTo>
                    <a:pt x="63222" y="8116"/>
                  </a:lnTo>
                  <a:lnTo>
                    <a:pt x="30321" y="30257"/>
                  </a:lnTo>
                  <a:lnTo>
                    <a:pt x="8135" y="63115"/>
                  </a:lnTo>
                  <a:lnTo>
                    <a:pt x="0" y="103377"/>
                  </a:lnTo>
                  <a:lnTo>
                    <a:pt x="0" y="519557"/>
                  </a:lnTo>
                  <a:lnTo>
                    <a:pt x="8135" y="559766"/>
                  </a:lnTo>
                  <a:lnTo>
                    <a:pt x="30321" y="592629"/>
                  </a:lnTo>
                  <a:lnTo>
                    <a:pt x="63222" y="614801"/>
                  </a:lnTo>
                  <a:lnTo>
                    <a:pt x="103505" y="622935"/>
                  </a:lnTo>
                  <a:lnTo>
                    <a:pt x="517017" y="622935"/>
                  </a:lnTo>
                  <a:lnTo>
                    <a:pt x="557299" y="614801"/>
                  </a:lnTo>
                  <a:lnTo>
                    <a:pt x="590200" y="592629"/>
                  </a:lnTo>
                  <a:lnTo>
                    <a:pt x="612386" y="559766"/>
                  </a:lnTo>
                  <a:lnTo>
                    <a:pt x="620522" y="519557"/>
                  </a:lnTo>
                  <a:lnTo>
                    <a:pt x="620522" y="103377"/>
                  </a:lnTo>
                  <a:lnTo>
                    <a:pt x="612386" y="63115"/>
                  </a:lnTo>
                  <a:lnTo>
                    <a:pt x="590200" y="30257"/>
                  </a:lnTo>
                  <a:lnTo>
                    <a:pt x="557299" y="8116"/>
                  </a:lnTo>
                  <a:lnTo>
                    <a:pt x="517017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329416" y="717549"/>
              <a:ext cx="410845" cy="420370"/>
            </a:xfrm>
            <a:custGeom>
              <a:avLst/>
              <a:gdLst/>
              <a:ahLst/>
              <a:cxnLst/>
              <a:rect l="l" t="t" r="r" b="b"/>
              <a:pathLst>
                <a:path w="410845" h="420369">
                  <a:moveTo>
                    <a:pt x="410464" y="144780"/>
                  </a:moveTo>
                  <a:lnTo>
                    <a:pt x="270891" y="144780"/>
                  </a:lnTo>
                  <a:lnTo>
                    <a:pt x="270891" y="0"/>
                  </a:lnTo>
                  <a:lnTo>
                    <a:pt x="139573" y="0"/>
                  </a:lnTo>
                  <a:lnTo>
                    <a:pt x="139573" y="144780"/>
                  </a:lnTo>
                  <a:lnTo>
                    <a:pt x="0" y="144780"/>
                  </a:lnTo>
                  <a:lnTo>
                    <a:pt x="0" y="275590"/>
                  </a:lnTo>
                  <a:lnTo>
                    <a:pt x="139573" y="275590"/>
                  </a:lnTo>
                  <a:lnTo>
                    <a:pt x="139573" y="420370"/>
                  </a:lnTo>
                  <a:lnTo>
                    <a:pt x="270891" y="420370"/>
                  </a:lnTo>
                  <a:lnTo>
                    <a:pt x="270891" y="275590"/>
                  </a:lnTo>
                  <a:lnTo>
                    <a:pt x="410464" y="275590"/>
                  </a:lnTo>
                  <a:lnTo>
                    <a:pt x="410464" y="14478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73176" y="1804797"/>
            <a:ext cx="10880725" cy="4503420"/>
            <a:chOff x="673176" y="1804797"/>
            <a:chExt cx="10880725" cy="4503420"/>
          </a:xfrm>
        </p:grpSpPr>
        <p:sp>
          <p:nvSpPr>
            <p:cNvPr id="8" name="object 8"/>
            <p:cNvSpPr/>
            <p:nvPr/>
          </p:nvSpPr>
          <p:spPr>
            <a:xfrm>
              <a:off x="692226" y="1823732"/>
              <a:ext cx="10842625" cy="638175"/>
            </a:xfrm>
            <a:custGeom>
              <a:avLst/>
              <a:gdLst/>
              <a:ahLst/>
              <a:cxnLst/>
              <a:rect l="l" t="t" r="r" b="b"/>
              <a:pathLst>
                <a:path w="10842625" h="638175">
                  <a:moveTo>
                    <a:pt x="10842422" y="0"/>
                  </a:moveTo>
                  <a:lnTo>
                    <a:pt x="7168388" y="0"/>
                  </a:lnTo>
                  <a:lnTo>
                    <a:pt x="0" y="0"/>
                  </a:lnTo>
                  <a:lnTo>
                    <a:pt x="0" y="637908"/>
                  </a:lnTo>
                  <a:lnTo>
                    <a:pt x="7168312" y="637908"/>
                  </a:lnTo>
                  <a:lnTo>
                    <a:pt x="10842422" y="637908"/>
                  </a:lnTo>
                  <a:lnTo>
                    <a:pt x="10842422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2226" y="2461653"/>
              <a:ext cx="10842625" cy="638175"/>
            </a:xfrm>
            <a:custGeom>
              <a:avLst/>
              <a:gdLst/>
              <a:ahLst/>
              <a:cxnLst/>
              <a:rect l="l" t="t" r="r" b="b"/>
              <a:pathLst>
                <a:path w="10842625" h="638175">
                  <a:moveTo>
                    <a:pt x="10842422" y="0"/>
                  </a:moveTo>
                  <a:lnTo>
                    <a:pt x="7168388" y="0"/>
                  </a:lnTo>
                  <a:lnTo>
                    <a:pt x="0" y="0"/>
                  </a:lnTo>
                  <a:lnTo>
                    <a:pt x="0" y="637908"/>
                  </a:lnTo>
                  <a:lnTo>
                    <a:pt x="7168312" y="637908"/>
                  </a:lnTo>
                  <a:lnTo>
                    <a:pt x="10842422" y="637908"/>
                  </a:lnTo>
                  <a:lnTo>
                    <a:pt x="10842422" y="0"/>
                  </a:lnTo>
                  <a:close/>
                </a:path>
              </a:pathLst>
            </a:custGeom>
            <a:solidFill>
              <a:srgbClr val="E9F0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2226" y="3099574"/>
              <a:ext cx="10842625" cy="638175"/>
            </a:xfrm>
            <a:custGeom>
              <a:avLst/>
              <a:gdLst/>
              <a:ahLst/>
              <a:cxnLst/>
              <a:rect l="l" t="t" r="r" b="b"/>
              <a:pathLst>
                <a:path w="10842625" h="638175">
                  <a:moveTo>
                    <a:pt x="10842422" y="0"/>
                  </a:moveTo>
                  <a:lnTo>
                    <a:pt x="7168388" y="0"/>
                  </a:lnTo>
                  <a:lnTo>
                    <a:pt x="0" y="0"/>
                  </a:lnTo>
                  <a:lnTo>
                    <a:pt x="0" y="637908"/>
                  </a:lnTo>
                  <a:lnTo>
                    <a:pt x="7168312" y="637908"/>
                  </a:lnTo>
                  <a:lnTo>
                    <a:pt x="10842422" y="637908"/>
                  </a:lnTo>
                  <a:lnTo>
                    <a:pt x="10842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2226" y="3737495"/>
              <a:ext cx="10842625" cy="638175"/>
            </a:xfrm>
            <a:custGeom>
              <a:avLst/>
              <a:gdLst/>
              <a:ahLst/>
              <a:cxnLst/>
              <a:rect l="l" t="t" r="r" b="b"/>
              <a:pathLst>
                <a:path w="10842625" h="638175">
                  <a:moveTo>
                    <a:pt x="10842422" y="0"/>
                  </a:moveTo>
                  <a:lnTo>
                    <a:pt x="7168388" y="0"/>
                  </a:lnTo>
                  <a:lnTo>
                    <a:pt x="0" y="0"/>
                  </a:lnTo>
                  <a:lnTo>
                    <a:pt x="0" y="637908"/>
                  </a:lnTo>
                  <a:lnTo>
                    <a:pt x="7168312" y="637908"/>
                  </a:lnTo>
                  <a:lnTo>
                    <a:pt x="10842422" y="637908"/>
                  </a:lnTo>
                  <a:lnTo>
                    <a:pt x="10842422" y="0"/>
                  </a:lnTo>
                  <a:close/>
                </a:path>
              </a:pathLst>
            </a:custGeom>
            <a:solidFill>
              <a:srgbClr val="E9F0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2226" y="4375429"/>
              <a:ext cx="10842625" cy="638175"/>
            </a:xfrm>
            <a:custGeom>
              <a:avLst/>
              <a:gdLst/>
              <a:ahLst/>
              <a:cxnLst/>
              <a:rect l="l" t="t" r="r" b="b"/>
              <a:pathLst>
                <a:path w="10842625" h="638175">
                  <a:moveTo>
                    <a:pt x="10842422" y="0"/>
                  </a:moveTo>
                  <a:lnTo>
                    <a:pt x="7168388" y="0"/>
                  </a:lnTo>
                  <a:lnTo>
                    <a:pt x="0" y="0"/>
                  </a:lnTo>
                  <a:lnTo>
                    <a:pt x="0" y="637895"/>
                  </a:lnTo>
                  <a:lnTo>
                    <a:pt x="7168312" y="637895"/>
                  </a:lnTo>
                  <a:lnTo>
                    <a:pt x="10842422" y="637895"/>
                  </a:lnTo>
                  <a:lnTo>
                    <a:pt x="10842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2226" y="5013286"/>
              <a:ext cx="10842625" cy="638175"/>
            </a:xfrm>
            <a:custGeom>
              <a:avLst/>
              <a:gdLst/>
              <a:ahLst/>
              <a:cxnLst/>
              <a:rect l="l" t="t" r="r" b="b"/>
              <a:pathLst>
                <a:path w="10842625" h="638175">
                  <a:moveTo>
                    <a:pt x="10842422" y="0"/>
                  </a:moveTo>
                  <a:lnTo>
                    <a:pt x="7168388" y="0"/>
                  </a:lnTo>
                  <a:lnTo>
                    <a:pt x="0" y="0"/>
                  </a:lnTo>
                  <a:lnTo>
                    <a:pt x="0" y="637908"/>
                  </a:lnTo>
                  <a:lnTo>
                    <a:pt x="7168312" y="637908"/>
                  </a:lnTo>
                  <a:lnTo>
                    <a:pt x="10842422" y="637908"/>
                  </a:lnTo>
                  <a:lnTo>
                    <a:pt x="10842422" y="0"/>
                  </a:lnTo>
                  <a:close/>
                </a:path>
              </a:pathLst>
            </a:custGeom>
            <a:solidFill>
              <a:srgbClr val="E9F0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2226" y="5651195"/>
              <a:ext cx="10842625" cy="638175"/>
            </a:xfrm>
            <a:custGeom>
              <a:avLst/>
              <a:gdLst/>
              <a:ahLst/>
              <a:cxnLst/>
              <a:rect l="l" t="t" r="r" b="b"/>
              <a:pathLst>
                <a:path w="10842625" h="638175">
                  <a:moveTo>
                    <a:pt x="10842422" y="0"/>
                  </a:moveTo>
                  <a:lnTo>
                    <a:pt x="7168388" y="0"/>
                  </a:lnTo>
                  <a:lnTo>
                    <a:pt x="0" y="0"/>
                  </a:lnTo>
                  <a:lnTo>
                    <a:pt x="0" y="637908"/>
                  </a:lnTo>
                  <a:lnTo>
                    <a:pt x="7168312" y="637908"/>
                  </a:lnTo>
                  <a:lnTo>
                    <a:pt x="10842422" y="637908"/>
                  </a:lnTo>
                  <a:lnTo>
                    <a:pt x="10842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3176" y="1804797"/>
              <a:ext cx="10880725" cy="4503420"/>
            </a:xfrm>
            <a:custGeom>
              <a:avLst/>
              <a:gdLst/>
              <a:ahLst/>
              <a:cxnLst/>
              <a:rect l="l" t="t" r="r" b="b"/>
              <a:pathLst>
                <a:path w="10880725" h="4503420">
                  <a:moveTo>
                    <a:pt x="7187361" y="0"/>
                  </a:moveTo>
                  <a:lnTo>
                    <a:pt x="7187361" y="4503356"/>
                  </a:lnTo>
                </a:path>
                <a:path w="10880725" h="4503420">
                  <a:moveTo>
                    <a:pt x="0" y="656843"/>
                  </a:moveTo>
                  <a:lnTo>
                    <a:pt x="10880521" y="656843"/>
                  </a:lnTo>
                </a:path>
                <a:path w="10880725" h="4503420">
                  <a:moveTo>
                    <a:pt x="0" y="1294764"/>
                  </a:moveTo>
                  <a:lnTo>
                    <a:pt x="10880521" y="1294764"/>
                  </a:lnTo>
                </a:path>
                <a:path w="10880725" h="4503420">
                  <a:moveTo>
                    <a:pt x="0" y="1932685"/>
                  </a:moveTo>
                  <a:lnTo>
                    <a:pt x="10880521" y="1932685"/>
                  </a:lnTo>
                </a:path>
                <a:path w="10880725" h="4503420">
                  <a:moveTo>
                    <a:pt x="0" y="2570607"/>
                  </a:moveTo>
                  <a:lnTo>
                    <a:pt x="10880521" y="2570607"/>
                  </a:lnTo>
                </a:path>
                <a:path w="10880725" h="4503420">
                  <a:moveTo>
                    <a:pt x="0" y="3208528"/>
                  </a:moveTo>
                  <a:lnTo>
                    <a:pt x="10880521" y="3208528"/>
                  </a:lnTo>
                </a:path>
                <a:path w="10880725" h="4503420">
                  <a:moveTo>
                    <a:pt x="0" y="3846398"/>
                  </a:moveTo>
                  <a:lnTo>
                    <a:pt x="10880521" y="3846398"/>
                  </a:lnTo>
                </a:path>
                <a:path w="10880725" h="4503420">
                  <a:moveTo>
                    <a:pt x="19050" y="0"/>
                  </a:moveTo>
                  <a:lnTo>
                    <a:pt x="19050" y="4503356"/>
                  </a:lnTo>
                </a:path>
                <a:path w="10880725" h="4503420">
                  <a:moveTo>
                    <a:pt x="10861471" y="0"/>
                  </a:moveTo>
                  <a:lnTo>
                    <a:pt x="10861471" y="4503356"/>
                  </a:lnTo>
                </a:path>
                <a:path w="10880725" h="4503420">
                  <a:moveTo>
                    <a:pt x="0" y="19050"/>
                  </a:moveTo>
                  <a:lnTo>
                    <a:pt x="10880521" y="19050"/>
                  </a:lnTo>
                </a:path>
                <a:path w="10880725" h="4503420">
                  <a:moveTo>
                    <a:pt x="0" y="4484306"/>
                  </a:moveTo>
                  <a:lnTo>
                    <a:pt x="10880521" y="4484306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267330" y="2017923"/>
          <a:ext cx="8004175" cy="428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3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230">
                <a:tc>
                  <a:txBody>
                    <a:bodyPr/>
                    <a:lstStyle/>
                    <a:p>
                      <a:pPr marR="1412240" algn="ctr">
                        <a:lnSpc>
                          <a:spcPts val="1820"/>
                        </a:lnSpc>
                      </a:pPr>
                      <a:r>
                        <a:rPr sz="1600" b="1" spc="-25" dirty="0">
                          <a:solidFill>
                            <a:srgbClr val="0A769F"/>
                          </a:solidFill>
                          <a:latin typeface="Trebuchet MS"/>
                          <a:cs typeface="Trebuchet MS"/>
                        </a:rPr>
                        <a:t>KPI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15E8C5"/>
                    </a:solidFill>
                  </a:tcPr>
                </a:tc>
                <a:tc>
                  <a:txBody>
                    <a:bodyPr/>
                    <a:lstStyle/>
                    <a:p>
                      <a:pPr marL="1420495" algn="ctr">
                        <a:lnSpc>
                          <a:spcPts val="1820"/>
                        </a:lnSpc>
                      </a:pPr>
                      <a:r>
                        <a:rPr sz="1600" b="1" spc="-10" dirty="0">
                          <a:solidFill>
                            <a:srgbClr val="0A769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15E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R="1414780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spc="-8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sz="1400" spc="-1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Number</a:t>
                      </a:r>
                      <a:r>
                        <a:rPr sz="1400" spc="-114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10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Doctor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9390" marB="0">
                    <a:solidFill>
                      <a:srgbClr val="E9F0E8"/>
                    </a:solidFill>
                  </a:tcPr>
                </a:tc>
                <a:tc>
                  <a:txBody>
                    <a:bodyPr/>
                    <a:lstStyle/>
                    <a:p>
                      <a:pPr marL="1419225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9390" marB="0">
                    <a:solidFill>
                      <a:srgbClr val="E9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R="1412240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Average</a:t>
                      </a:r>
                      <a:r>
                        <a:rPr sz="1400" spc="-1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Patient</a:t>
                      </a:r>
                      <a:r>
                        <a:rPr sz="1400" spc="-8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Satisfaction</a:t>
                      </a:r>
                      <a:r>
                        <a:rPr sz="1400" spc="-9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sz="1400" spc="-9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sz="1400" spc="-9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Doctor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939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19860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4.00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939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R="1413510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Provider</a:t>
                      </a:r>
                      <a:r>
                        <a:rPr sz="1400" spc="-1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Productivity</a:t>
                      </a:r>
                      <a:r>
                        <a:rPr sz="1400" spc="-8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(Visits</a:t>
                      </a:r>
                      <a:r>
                        <a:rPr sz="1400" spc="-9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sz="1400" spc="-7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Doctor)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9390" marB="0">
                    <a:solidFill>
                      <a:srgbClr val="E9F0E8"/>
                    </a:solidFill>
                  </a:tcPr>
                </a:tc>
                <a:tc>
                  <a:txBody>
                    <a:bodyPr/>
                    <a:lstStyle/>
                    <a:p>
                      <a:pPr marL="1418590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spc="-20" dirty="0">
                          <a:latin typeface="Trebuchet MS"/>
                          <a:cs typeface="Trebuchet MS"/>
                        </a:rPr>
                        <a:t>1000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9390" marB="0">
                    <a:solidFill>
                      <a:srgbClr val="E9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R="1414145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spc="5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Success</a:t>
                      </a:r>
                      <a:r>
                        <a:rPr sz="1400" spc="-1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Rate</a:t>
                      </a:r>
                      <a:r>
                        <a:rPr sz="1400" spc="-114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sz="1400" spc="-1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Doctor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939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16685"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61.70%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9939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540">
                <a:tc>
                  <a:txBody>
                    <a:bodyPr/>
                    <a:lstStyle/>
                    <a:p>
                      <a:pPr marR="1412240" algn="ctr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14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Average</a:t>
                      </a:r>
                      <a:r>
                        <a:rPr sz="1400" spc="-9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7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Treatment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Cost</a:t>
                      </a:r>
                      <a:r>
                        <a:rPr sz="1400" spc="-6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sz="14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Doctor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solidFill>
                      <a:srgbClr val="E9F0E8"/>
                    </a:solidFill>
                  </a:tcPr>
                </a:tc>
                <a:tc>
                  <a:txBody>
                    <a:bodyPr/>
                    <a:lstStyle/>
                    <a:p>
                      <a:pPr marL="1419860" algn="ctr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$528.38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solidFill>
                      <a:srgbClr val="E9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590">
                <a:tc>
                  <a:txBody>
                    <a:bodyPr/>
                    <a:lstStyle/>
                    <a:p>
                      <a:pPr marR="1412875" algn="ctr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14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Percentage</a:t>
                      </a:r>
                      <a:r>
                        <a:rPr sz="1400" spc="-1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9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Emergency</a:t>
                      </a:r>
                      <a:r>
                        <a:rPr sz="1400" spc="-114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Visits</a:t>
                      </a:r>
                      <a:r>
                        <a:rPr sz="1400" spc="-1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Handled</a:t>
                      </a:r>
                      <a:r>
                        <a:rPr sz="1400" spc="-8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sz="1400" spc="-9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Doctors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16685" algn="ctr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24.70%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0002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895" y="970229"/>
            <a:ext cx="2164080" cy="9366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3329"/>
              </a:lnSpc>
              <a:spcBef>
                <a:spcPts val="640"/>
              </a:spcBef>
            </a:pPr>
            <a:r>
              <a:rPr spc="-10" dirty="0"/>
              <a:t>Calculating Revenue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895" y="2160777"/>
            <a:ext cx="2588895" cy="431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95"/>
              </a:lnSpc>
              <a:spcBef>
                <a:spcPts val="105"/>
              </a:spcBef>
            </a:pP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An</a:t>
            </a:r>
            <a:r>
              <a:rPr sz="1400" spc="-3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overview</a:t>
            </a:r>
            <a:r>
              <a:rPr sz="1400" spc="-1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of</a:t>
            </a:r>
            <a:r>
              <a:rPr sz="1400" spc="-4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13745"/>
                </a:solidFill>
                <a:latin typeface="Calibri"/>
                <a:cs typeface="Calibri"/>
              </a:rPr>
              <a:t>healthcare</a:t>
            </a:r>
            <a:r>
              <a:rPr sz="1400" spc="1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13745"/>
                </a:solidFill>
                <a:latin typeface="Calibri"/>
                <a:cs typeface="Calibri"/>
              </a:rPr>
              <a:t>resource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</a:pPr>
            <a:r>
              <a:rPr sz="1400" spc="-10" dirty="0">
                <a:solidFill>
                  <a:srgbClr val="313745"/>
                </a:solidFill>
                <a:latin typeface="Calibri"/>
                <a:cs typeface="Calibri"/>
              </a:rPr>
              <a:t>optimization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09365"/>
            <a:ext cx="5153025" cy="3549015"/>
            <a:chOff x="0" y="3309365"/>
            <a:chExt cx="5153025" cy="3549015"/>
          </a:xfrm>
        </p:grpSpPr>
        <p:sp>
          <p:nvSpPr>
            <p:cNvPr id="5" name="object 5"/>
            <p:cNvSpPr/>
            <p:nvPr/>
          </p:nvSpPr>
          <p:spPr>
            <a:xfrm>
              <a:off x="0" y="3309365"/>
              <a:ext cx="4677410" cy="3549015"/>
            </a:xfrm>
            <a:custGeom>
              <a:avLst/>
              <a:gdLst/>
              <a:ahLst/>
              <a:cxnLst/>
              <a:rect l="l" t="t" r="r" b="b"/>
              <a:pathLst>
                <a:path w="4677410" h="3549015">
                  <a:moveTo>
                    <a:pt x="4323334" y="0"/>
                  </a:moveTo>
                  <a:lnTo>
                    <a:pt x="0" y="0"/>
                  </a:lnTo>
                  <a:lnTo>
                    <a:pt x="0" y="3548634"/>
                  </a:lnTo>
                  <a:lnTo>
                    <a:pt x="4677156" y="3548633"/>
                  </a:lnTo>
                  <a:lnTo>
                    <a:pt x="4677156" y="353695"/>
                  </a:lnTo>
                  <a:lnTo>
                    <a:pt x="4673926" y="305703"/>
                  </a:lnTo>
                  <a:lnTo>
                    <a:pt x="4664520" y="259673"/>
                  </a:lnTo>
                  <a:lnTo>
                    <a:pt x="4649356" y="216027"/>
                  </a:lnTo>
                  <a:lnTo>
                    <a:pt x="4628858" y="175184"/>
                  </a:lnTo>
                  <a:lnTo>
                    <a:pt x="4603445" y="137568"/>
                  </a:lnTo>
                  <a:lnTo>
                    <a:pt x="4573539" y="103600"/>
                  </a:lnTo>
                  <a:lnTo>
                    <a:pt x="4539562" y="73701"/>
                  </a:lnTo>
                  <a:lnTo>
                    <a:pt x="4501933" y="48292"/>
                  </a:lnTo>
                  <a:lnTo>
                    <a:pt x="4461075" y="27797"/>
                  </a:lnTo>
                  <a:lnTo>
                    <a:pt x="4417408" y="12635"/>
                  </a:lnTo>
                  <a:lnTo>
                    <a:pt x="4371354" y="3229"/>
                  </a:lnTo>
                  <a:lnTo>
                    <a:pt x="4323334" y="0"/>
                  </a:lnTo>
                  <a:close/>
                </a:path>
              </a:pathLst>
            </a:custGeom>
            <a:solidFill>
              <a:srgbClr val="003E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01540" y="5156199"/>
              <a:ext cx="951230" cy="955040"/>
            </a:xfrm>
            <a:custGeom>
              <a:avLst/>
              <a:gdLst/>
              <a:ahLst/>
              <a:cxnLst/>
              <a:rect l="l" t="t" r="r" b="b"/>
              <a:pathLst>
                <a:path w="951229" h="955039">
                  <a:moveTo>
                    <a:pt x="792607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796518"/>
                  </a:lnTo>
                  <a:lnTo>
                    <a:pt x="8083" y="846625"/>
                  </a:lnTo>
                  <a:lnTo>
                    <a:pt x="30589" y="890141"/>
                  </a:lnTo>
                  <a:lnTo>
                    <a:pt x="64904" y="924455"/>
                  </a:lnTo>
                  <a:lnTo>
                    <a:pt x="108411" y="946958"/>
                  </a:lnTo>
                  <a:lnTo>
                    <a:pt x="158496" y="955040"/>
                  </a:lnTo>
                  <a:lnTo>
                    <a:pt x="792607" y="955040"/>
                  </a:lnTo>
                  <a:lnTo>
                    <a:pt x="842691" y="946958"/>
                  </a:lnTo>
                  <a:lnTo>
                    <a:pt x="886198" y="924455"/>
                  </a:lnTo>
                  <a:lnTo>
                    <a:pt x="920513" y="890141"/>
                  </a:lnTo>
                  <a:lnTo>
                    <a:pt x="943019" y="846625"/>
                  </a:lnTo>
                  <a:lnTo>
                    <a:pt x="951103" y="796518"/>
                  </a:lnTo>
                  <a:lnTo>
                    <a:pt x="951103" y="158496"/>
                  </a:lnTo>
                  <a:lnTo>
                    <a:pt x="943019" y="108411"/>
                  </a:lnTo>
                  <a:lnTo>
                    <a:pt x="920513" y="64904"/>
                  </a:lnTo>
                  <a:lnTo>
                    <a:pt x="886198" y="30589"/>
                  </a:lnTo>
                  <a:lnTo>
                    <a:pt x="842691" y="8083"/>
                  </a:lnTo>
                  <a:lnTo>
                    <a:pt x="792607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62577" y="5311139"/>
              <a:ext cx="629285" cy="645160"/>
            </a:xfrm>
            <a:custGeom>
              <a:avLst/>
              <a:gdLst/>
              <a:ahLst/>
              <a:cxnLst/>
              <a:rect l="l" t="t" r="r" b="b"/>
              <a:pathLst>
                <a:path w="629285" h="645160">
                  <a:moveTo>
                    <a:pt x="629031" y="222250"/>
                  </a:moveTo>
                  <a:lnTo>
                    <a:pt x="415163" y="222250"/>
                  </a:lnTo>
                  <a:lnTo>
                    <a:pt x="415163" y="0"/>
                  </a:lnTo>
                  <a:lnTo>
                    <a:pt x="213868" y="0"/>
                  </a:lnTo>
                  <a:lnTo>
                    <a:pt x="213868" y="222250"/>
                  </a:lnTo>
                  <a:lnTo>
                    <a:pt x="0" y="222250"/>
                  </a:lnTo>
                  <a:lnTo>
                    <a:pt x="0" y="422910"/>
                  </a:lnTo>
                  <a:lnTo>
                    <a:pt x="213868" y="422910"/>
                  </a:lnTo>
                  <a:lnTo>
                    <a:pt x="213868" y="645160"/>
                  </a:lnTo>
                  <a:lnTo>
                    <a:pt x="415163" y="645160"/>
                  </a:lnTo>
                  <a:lnTo>
                    <a:pt x="415163" y="422910"/>
                  </a:lnTo>
                  <a:lnTo>
                    <a:pt x="629031" y="422910"/>
                  </a:lnTo>
                  <a:lnTo>
                    <a:pt x="629031" y="22225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03341" y="1083056"/>
            <a:ext cx="2163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Purpose</a:t>
            </a:r>
            <a:r>
              <a:rPr sz="1400" b="1" spc="-5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of</a:t>
            </a:r>
            <a:r>
              <a:rPr sz="1400" b="1" spc="-3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the</a:t>
            </a:r>
            <a:r>
              <a:rPr sz="1400" b="1" spc="-1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spc="-10" dirty="0">
                <a:solidFill>
                  <a:srgbClr val="090E20"/>
                </a:solidFill>
                <a:latin typeface="Nirmala UI"/>
                <a:cs typeface="Nirmala UI"/>
              </a:rPr>
              <a:t>Report</a:t>
            </a:r>
            <a:endParaRPr sz="1400">
              <a:latin typeface="Nirmala UI"/>
              <a:cs typeface="Nirmala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6994" y="1391513"/>
            <a:ext cx="5750560" cy="68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5000"/>
              </a:lnSpc>
              <a:spcBef>
                <a:spcPts val="100"/>
              </a:spcBef>
            </a:pP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This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report</a:t>
            </a:r>
            <a:r>
              <a:rPr sz="14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aims</a:t>
            </a:r>
            <a:r>
              <a:rPr sz="14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calculate</a:t>
            </a:r>
            <a:r>
              <a:rPr sz="14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revenue</a:t>
            </a:r>
            <a:r>
              <a:rPr sz="14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by</a:t>
            </a:r>
            <a:r>
              <a:rPr sz="14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different</a:t>
            </a:r>
            <a:r>
              <a:rPr sz="14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sources</a:t>
            </a:r>
            <a:r>
              <a:rPr sz="14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within</a:t>
            </a:r>
            <a:r>
              <a:rPr sz="14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healthcare facilities.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3341" y="2225751"/>
            <a:ext cx="26917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Total</a:t>
            </a:r>
            <a:r>
              <a:rPr sz="1400" b="1" spc="-4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Billing</a:t>
            </a:r>
            <a:r>
              <a:rPr sz="1400" b="1" spc="-2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Amount</a:t>
            </a:r>
            <a:r>
              <a:rPr sz="1400" b="1" spc="-3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By</a:t>
            </a:r>
            <a:r>
              <a:rPr sz="1400" b="1" spc="-3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spc="-20" dirty="0">
                <a:solidFill>
                  <a:srgbClr val="090E20"/>
                </a:solidFill>
                <a:latin typeface="Nirmala UI"/>
                <a:cs typeface="Nirmala UI"/>
              </a:rPr>
              <a:t>City</a:t>
            </a:r>
            <a:endParaRPr sz="1400">
              <a:latin typeface="Nirmala UI"/>
              <a:cs typeface="Nirmala U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Examines</a:t>
            </a:r>
            <a:r>
              <a:rPr spc="-25" dirty="0"/>
              <a:t> Total</a:t>
            </a:r>
            <a:r>
              <a:rPr spc="-30" dirty="0"/>
              <a:t> </a:t>
            </a:r>
            <a:r>
              <a:rPr dirty="0"/>
              <a:t>Billing</a:t>
            </a:r>
            <a:r>
              <a:rPr spc="-35" dirty="0"/>
              <a:t> </a:t>
            </a:r>
            <a:r>
              <a:rPr dirty="0"/>
              <a:t>Amount</a:t>
            </a:r>
            <a:r>
              <a:rPr spc="-25" dirty="0"/>
              <a:t> </a:t>
            </a:r>
            <a:r>
              <a:rPr dirty="0"/>
              <a:t>by</a:t>
            </a:r>
            <a:r>
              <a:rPr spc="-20" dirty="0"/>
              <a:t> </a:t>
            </a:r>
            <a:r>
              <a:rPr dirty="0"/>
              <a:t>Cities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States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10" dirty="0"/>
              <a:t> European</a:t>
            </a:r>
            <a:r>
              <a:rPr spc="-25" dirty="0"/>
              <a:t> </a:t>
            </a:r>
            <a:r>
              <a:rPr spc="-10" dirty="0"/>
              <a:t>Countries</a:t>
            </a:r>
          </a:p>
          <a:p>
            <a:pPr marL="299085" indent="-286385">
              <a:lnSpc>
                <a:spcPct val="100000"/>
              </a:lnSpc>
              <a:spcBef>
                <a:spcPts val="1365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b="1" dirty="0">
                <a:latin typeface="Nirmala UI"/>
                <a:cs typeface="Nirmala UI"/>
              </a:rPr>
              <a:t>Total</a:t>
            </a:r>
            <a:r>
              <a:rPr b="1" spc="-50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Billing</a:t>
            </a:r>
            <a:r>
              <a:rPr b="1" spc="-30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amount</a:t>
            </a:r>
            <a:r>
              <a:rPr b="1" spc="-5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By</a:t>
            </a:r>
            <a:r>
              <a:rPr b="1" spc="-30" dirty="0">
                <a:latin typeface="Nirmala UI"/>
                <a:cs typeface="Nirmala UI"/>
              </a:rPr>
              <a:t> </a:t>
            </a:r>
            <a:r>
              <a:rPr b="1" spc="-10" dirty="0">
                <a:latin typeface="Nirmala UI"/>
                <a:cs typeface="Nirmala UI"/>
              </a:rPr>
              <a:t>Procedure</a:t>
            </a:r>
          </a:p>
          <a:p>
            <a:pPr marL="276225">
              <a:lnSpc>
                <a:spcPct val="100000"/>
              </a:lnSpc>
              <a:spcBef>
                <a:spcPts val="1680"/>
              </a:spcBef>
            </a:pPr>
            <a:r>
              <a:rPr spc="-10" dirty="0"/>
              <a:t>Analyzes</a:t>
            </a:r>
            <a:r>
              <a:rPr spc="-20" dirty="0"/>
              <a:t> </a:t>
            </a:r>
            <a:r>
              <a:rPr dirty="0"/>
              <a:t>Billing</a:t>
            </a:r>
            <a:r>
              <a:rPr spc="-15" dirty="0"/>
              <a:t> </a:t>
            </a:r>
            <a:r>
              <a:rPr dirty="0"/>
              <a:t>amount</a:t>
            </a:r>
            <a:r>
              <a:rPr spc="-20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spc="-10" dirty="0"/>
              <a:t>Procedure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identify</a:t>
            </a:r>
            <a:r>
              <a:rPr spc="-15" dirty="0"/>
              <a:t> </a:t>
            </a:r>
            <a:r>
              <a:rPr spc="-10" dirty="0"/>
              <a:t>improvement</a:t>
            </a:r>
            <a:r>
              <a:rPr spc="-30" dirty="0"/>
              <a:t> </a:t>
            </a:r>
            <a:r>
              <a:rPr spc="-10" dirty="0"/>
              <a:t>areas.</a:t>
            </a:r>
          </a:p>
          <a:p>
            <a:pPr marL="299085" indent="-286385">
              <a:lnSpc>
                <a:spcPct val="100000"/>
              </a:lnSpc>
              <a:spcBef>
                <a:spcPts val="1370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b="1" dirty="0">
                <a:latin typeface="Nirmala UI"/>
                <a:cs typeface="Nirmala UI"/>
              </a:rPr>
              <a:t>Total</a:t>
            </a:r>
            <a:r>
              <a:rPr b="1" spc="-4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Billing</a:t>
            </a:r>
            <a:r>
              <a:rPr b="1" spc="-2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Amount</a:t>
            </a:r>
            <a:r>
              <a:rPr b="1" spc="-30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By</a:t>
            </a:r>
            <a:r>
              <a:rPr b="1" spc="-30" dirty="0">
                <a:latin typeface="Nirmala UI"/>
                <a:cs typeface="Nirmala UI"/>
              </a:rPr>
              <a:t> </a:t>
            </a:r>
            <a:r>
              <a:rPr b="1" spc="-10" dirty="0">
                <a:latin typeface="Nirmala UI"/>
                <a:cs typeface="Nirmala UI"/>
              </a:rPr>
              <a:t>Department</a:t>
            </a:r>
          </a:p>
          <a:p>
            <a:pPr marL="276225">
              <a:lnSpc>
                <a:spcPct val="100000"/>
              </a:lnSpc>
              <a:spcBef>
                <a:spcPts val="1670"/>
              </a:spcBef>
            </a:pPr>
            <a:r>
              <a:rPr spc="-10" dirty="0"/>
              <a:t>Reviews</a:t>
            </a:r>
            <a:r>
              <a:rPr spc="-35" dirty="0"/>
              <a:t> </a:t>
            </a:r>
            <a:r>
              <a:rPr dirty="0"/>
              <a:t>Billing</a:t>
            </a:r>
            <a:r>
              <a:rPr spc="-35" dirty="0"/>
              <a:t> </a:t>
            </a:r>
            <a:r>
              <a:rPr dirty="0"/>
              <a:t>amount</a:t>
            </a:r>
            <a:r>
              <a:rPr spc="-30" dirty="0"/>
              <a:t>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Departments</a:t>
            </a:r>
            <a:r>
              <a:rPr spc="-2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identify</a:t>
            </a:r>
            <a:r>
              <a:rPr spc="-30" dirty="0"/>
              <a:t> </a:t>
            </a:r>
            <a:r>
              <a:rPr spc="-10" dirty="0"/>
              <a:t>improvement</a:t>
            </a:r>
            <a:r>
              <a:rPr spc="-40" dirty="0"/>
              <a:t> </a:t>
            </a:r>
            <a:r>
              <a:rPr spc="-10" dirty="0"/>
              <a:t>areas.</a:t>
            </a:r>
          </a:p>
          <a:p>
            <a:pPr marL="299085" indent="-286385">
              <a:lnSpc>
                <a:spcPct val="100000"/>
              </a:lnSpc>
              <a:spcBef>
                <a:spcPts val="1365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b="1" dirty="0">
                <a:latin typeface="Nirmala UI"/>
                <a:cs typeface="Nirmala UI"/>
              </a:rPr>
              <a:t>Total</a:t>
            </a:r>
            <a:r>
              <a:rPr b="1" spc="-60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Billing</a:t>
            </a:r>
            <a:r>
              <a:rPr b="1" spc="-3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Amount</a:t>
            </a:r>
            <a:r>
              <a:rPr b="1" spc="-5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By</a:t>
            </a:r>
            <a:r>
              <a:rPr b="1" spc="-40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Diagnosis</a:t>
            </a:r>
            <a:r>
              <a:rPr b="1" spc="-6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and</a:t>
            </a:r>
            <a:r>
              <a:rPr b="1" spc="-40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Service</a:t>
            </a:r>
            <a:r>
              <a:rPr b="1" spc="-30" dirty="0">
                <a:latin typeface="Nirmala UI"/>
                <a:cs typeface="Nirmala UI"/>
              </a:rPr>
              <a:t> </a:t>
            </a:r>
            <a:r>
              <a:rPr b="1" spc="-20" dirty="0">
                <a:latin typeface="Nirmala UI"/>
                <a:cs typeface="Nirmala UI"/>
              </a:rPr>
              <a:t>Type</a:t>
            </a:r>
          </a:p>
          <a:p>
            <a:pPr marL="276225">
              <a:lnSpc>
                <a:spcPct val="100000"/>
              </a:lnSpc>
              <a:spcBef>
                <a:spcPts val="1670"/>
              </a:spcBef>
            </a:pPr>
            <a:r>
              <a:rPr spc="-10" dirty="0"/>
              <a:t>Analyzes</a:t>
            </a:r>
            <a:r>
              <a:rPr spc="-35" dirty="0"/>
              <a:t> </a:t>
            </a:r>
            <a:r>
              <a:rPr dirty="0"/>
              <a:t>billing</a:t>
            </a:r>
            <a:r>
              <a:rPr spc="-25" dirty="0"/>
              <a:t> </a:t>
            </a:r>
            <a:r>
              <a:rPr dirty="0"/>
              <a:t>amount</a:t>
            </a:r>
            <a:r>
              <a:rPr spc="-5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Diagnosis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Services</a:t>
            </a:r>
            <a:r>
              <a:rPr spc="-55" dirty="0"/>
              <a:t> </a:t>
            </a:r>
            <a:r>
              <a:rPr dirty="0"/>
              <a:t>types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more</a:t>
            </a:r>
            <a:r>
              <a:rPr spc="-55" dirty="0"/>
              <a:t> </a:t>
            </a:r>
            <a:r>
              <a:rPr spc="-10" dirty="0"/>
              <a:t>improvements</a:t>
            </a:r>
          </a:p>
          <a:p>
            <a:pPr marL="276225">
              <a:lnSpc>
                <a:spcPct val="100000"/>
              </a:lnSpc>
              <a:spcBef>
                <a:spcPts val="925"/>
              </a:spcBef>
            </a:pP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healthcare</a:t>
            </a:r>
            <a:r>
              <a:rPr spc="5" dirty="0"/>
              <a:t> </a:t>
            </a:r>
            <a:r>
              <a:rPr spc="-10" dirty="0"/>
              <a:t>facilities</a:t>
            </a:r>
          </a:p>
          <a:p>
            <a:pPr marL="299085" indent="-286385">
              <a:lnSpc>
                <a:spcPct val="100000"/>
              </a:lnSpc>
              <a:spcBef>
                <a:spcPts val="1370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b="1" dirty="0">
                <a:latin typeface="Nirmala UI"/>
                <a:cs typeface="Nirmala UI"/>
              </a:rPr>
              <a:t>Total</a:t>
            </a:r>
            <a:r>
              <a:rPr b="1" spc="-50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Billing</a:t>
            </a:r>
            <a:r>
              <a:rPr b="1" spc="-2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Amount</a:t>
            </a:r>
            <a:r>
              <a:rPr b="1" spc="-4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By</a:t>
            </a:r>
            <a:r>
              <a:rPr b="1" spc="-2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Months</a:t>
            </a:r>
            <a:r>
              <a:rPr b="1" spc="-65" dirty="0">
                <a:latin typeface="Nirmala UI"/>
                <a:cs typeface="Nirmala UI"/>
              </a:rPr>
              <a:t> </a:t>
            </a:r>
            <a:r>
              <a:rPr b="1" dirty="0">
                <a:latin typeface="Nirmala UI"/>
                <a:cs typeface="Nirmala UI"/>
              </a:rPr>
              <a:t>and</a:t>
            </a:r>
            <a:r>
              <a:rPr b="1" spc="-45" dirty="0">
                <a:latin typeface="Nirmala UI"/>
                <a:cs typeface="Nirmala UI"/>
              </a:rPr>
              <a:t> </a:t>
            </a:r>
            <a:r>
              <a:rPr b="1" spc="-10" dirty="0">
                <a:latin typeface="Nirmala UI"/>
                <a:cs typeface="Nirmala UI"/>
              </a:rPr>
              <a:t>Weekdays</a:t>
            </a:r>
          </a:p>
          <a:p>
            <a:pPr marL="276225" marR="33020">
              <a:lnSpc>
                <a:spcPts val="1670"/>
              </a:lnSpc>
              <a:spcBef>
                <a:spcPts val="495"/>
              </a:spcBef>
            </a:pPr>
            <a:r>
              <a:rPr spc="-10" dirty="0"/>
              <a:t>Analyzes</a:t>
            </a:r>
            <a:r>
              <a:rPr spc="-35" dirty="0"/>
              <a:t> </a:t>
            </a:r>
            <a:r>
              <a:rPr dirty="0"/>
              <a:t>billing</a:t>
            </a:r>
            <a:r>
              <a:rPr spc="-25" dirty="0"/>
              <a:t> </a:t>
            </a:r>
            <a:r>
              <a:rPr dirty="0"/>
              <a:t>amount</a:t>
            </a:r>
            <a:r>
              <a:rPr spc="-45" dirty="0"/>
              <a:t> </a:t>
            </a:r>
            <a:r>
              <a:rPr dirty="0"/>
              <a:t>by</a:t>
            </a:r>
            <a:r>
              <a:rPr spc="-20" dirty="0"/>
              <a:t> </a:t>
            </a:r>
            <a:r>
              <a:rPr dirty="0"/>
              <a:t>Months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20" dirty="0"/>
              <a:t>Weekdays</a:t>
            </a:r>
            <a:r>
              <a:rPr spc="-30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more</a:t>
            </a:r>
            <a:r>
              <a:rPr spc="-45" dirty="0"/>
              <a:t> </a:t>
            </a:r>
            <a:r>
              <a:rPr spc="-10" dirty="0"/>
              <a:t>accurate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30" dirty="0"/>
              <a:t> </a:t>
            </a:r>
            <a:r>
              <a:rPr spc="-25" dirty="0"/>
              <a:t>by </a:t>
            </a:r>
            <a:r>
              <a:rPr spc="-20" dirty="0"/>
              <a:t>Time.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F257FE-11CF-72A0-3100-9DFE4C6421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09365"/>
            <a:ext cx="4677411" cy="35486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895" y="987627"/>
            <a:ext cx="42392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Operational</a:t>
            </a:r>
            <a:r>
              <a:rPr spc="-145" dirty="0"/>
              <a:t> </a:t>
            </a:r>
            <a:r>
              <a:rPr spc="-10" dirty="0"/>
              <a:t>Efficiency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895" y="1410462"/>
            <a:ext cx="4501515" cy="1182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3E84"/>
                </a:solidFill>
                <a:latin typeface="Nirmala UI"/>
                <a:cs typeface="Nirmala UI"/>
              </a:rPr>
              <a:t>–</a:t>
            </a:r>
            <a:r>
              <a:rPr sz="3200" b="1" spc="-95" dirty="0">
                <a:solidFill>
                  <a:srgbClr val="003E84"/>
                </a:solidFill>
                <a:latin typeface="Nirmala UI"/>
                <a:cs typeface="Nirmala UI"/>
              </a:rPr>
              <a:t> </a:t>
            </a:r>
            <a:r>
              <a:rPr sz="3200" b="1" dirty="0">
                <a:solidFill>
                  <a:srgbClr val="003E84"/>
                </a:solidFill>
                <a:latin typeface="Nirmala UI"/>
                <a:cs typeface="Nirmala UI"/>
              </a:rPr>
              <a:t>Optimizing</a:t>
            </a:r>
            <a:r>
              <a:rPr sz="3200" b="1" spc="-90" dirty="0">
                <a:solidFill>
                  <a:srgbClr val="003E84"/>
                </a:solidFill>
                <a:latin typeface="Nirmala UI"/>
                <a:cs typeface="Nirmala UI"/>
              </a:rPr>
              <a:t> </a:t>
            </a:r>
            <a:r>
              <a:rPr sz="3200" b="1" spc="-10" dirty="0">
                <a:solidFill>
                  <a:srgbClr val="003E84"/>
                </a:solidFill>
                <a:latin typeface="Nirmala UI"/>
                <a:cs typeface="Nirmala UI"/>
              </a:rPr>
              <a:t>Resources</a:t>
            </a:r>
            <a:endParaRPr sz="3200">
              <a:latin typeface="Nirmala UI"/>
              <a:cs typeface="Nirmala UI"/>
            </a:endParaRPr>
          </a:p>
          <a:p>
            <a:pPr marL="12700">
              <a:lnSpc>
                <a:spcPts val="1595"/>
              </a:lnSpc>
              <a:spcBef>
                <a:spcPts val="2065"/>
              </a:spcBef>
            </a:pP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An</a:t>
            </a:r>
            <a:r>
              <a:rPr sz="1400" spc="-3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overview</a:t>
            </a:r>
            <a:r>
              <a:rPr sz="1400" spc="-1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745"/>
                </a:solidFill>
                <a:latin typeface="Calibri"/>
                <a:cs typeface="Calibri"/>
              </a:rPr>
              <a:t>of</a:t>
            </a:r>
            <a:r>
              <a:rPr sz="1400" spc="-4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13745"/>
                </a:solidFill>
                <a:latin typeface="Calibri"/>
                <a:cs typeface="Calibri"/>
              </a:rPr>
              <a:t>healthcare</a:t>
            </a:r>
            <a:r>
              <a:rPr sz="1400" spc="1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13745"/>
                </a:solidFill>
                <a:latin typeface="Calibri"/>
                <a:cs typeface="Calibri"/>
              </a:rPr>
              <a:t>resource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</a:pPr>
            <a:r>
              <a:rPr sz="1400" spc="-10" dirty="0">
                <a:solidFill>
                  <a:srgbClr val="313745"/>
                </a:solidFill>
                <a:latin typeface="Calibri"/>
                <a:cs typeface="Calibri"/>
              </a:rPr>
              <a:t>optimization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09365"/>
            <a:ext cx="5153025" cy="3549015"/>
            <a:chOff x="0" y="3309365"/>
            <a:chExt cx="5153025" cy="3549015"/>
          </a:xfrm>
        </p:grpSpPr>
        <p:sp>
          <p:nvSpPr>
            <p:cNvPr id="5" name="object 5"/>
            <p:cNvSpPr/>
            <p:nvPr/>
          </p:nvSpPr>
          <p:spPr>
            <a:xfrm>
              <a:off x="0" y="3309365"/>
              <a:ext cx="4677410" cy="3549015"/>
            </a:xfrm>
            <a:custGeom>
              <a:avLst/>
              <a:gdLst/>
              <a:ahLst/>
              <a:cxnLst/>
              <a:rect l="l" t="t" r="r" b="b"/>
              <a:pathLst>
                <a:path w="4677410" h="3549015">
                  <a:moveTo>
                    <a:pt x="4323334" y="0"/>
                  </a:moveTo>
                  <a:lnTo>
                    <a:pt x="0" y="0"/>
                  </a:lnTo>
                  <a:lnTo>
                    <a:pt x="0" y="3548634"/>
                  </a:lnTo>
                  <a:lnTo>
                    <a:pt x="4677156" y="3548633"/>
                  </a:lnTo>
                  <a:lnTo>
                    <a:pt x="4677156" y="353695"/>
                  </a:lnTo>
                  <a:lnTo>
                    <a:pt x="4673926" y="305703"/>
                  </a:lnTo>
                  <a:lnTo>
                    <a:pt x="4664520" y="259673"/>
                  </a:lnTo>
                  <a:lnTo>
                    <a:pt x="4649356" y="216027"/>
                  </a:lnTo>
                  <a:lnTo>
                    <a:pt x="4628858" y="175184"/>
                  </a:lnTo>
                  <a:lnTo>
                    <a:pt x="4603445" y="137568"/>
                  </a:lnTo>
                  <a:lnTo>
                    <a:pt x="4573539" y="103600"/>
                  </a:lnTo>
                  <a:lnTo>
                    <a:pt x="4539562" y="73701"/>
                  </a:lnTo>
                  <a:lnTo>
                    <a:pt x="4501933" y="48292"/>
                  </a:lnTo>
                  <a:lnTo>
                    <a:pt x="4461075" y="27797"/>
                  </a:lnTo>
                  <a:lnTo>
                    <a:pt x="4417408" y="12635"/>
                  </a:lnTo>
                  <a:lnTo>
                    <a:pt x="4371354" y="3229"/>
                  </a:lnTo>
                  <a:lnTo>
                    <a:pt x="4323334" y="0"/>
                  </a:lnTo>
                  <a:close/>
                </a:path>
              </a:pathLst>
            </a:custGeom>
            <a:solidFill>
              <a:srgbClr val="003E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01540" y="5156199"/>
              <a:ext cx="951230" cy="955040"/>
            </a:xfrm>
            <a:custGeom>
              <a:avLst/>
              <a:gdLst/>
              <a:ahLst/>
              <a:cxnLst/>
              <a:rect l="l" t="t" r="r" b="b"/>
              <a:pathLst>
                <a:path w="951229" h="955039">
                  <a:moveTo>
                    <a:pt x="792607" y="0"/>
                  </a:moveTo>
                  <a:lnTo>
                    <a:pt x="158496" y="0"/>
                  </a:lnTo>
                  <a:lnTo>
                    <a:pt x="108411" y="8083"/>
                  </a:lnTo>
                  <a:lnTo>
                    <a:pt x="64904" y="30589"/>
                  </a:lnTo>
                  <a:lnTo>
                    <a:pt x="30589" y="64904"/>
                  </a:lnTo>
                  <a:lnTo>
                    <a:pt x="8083" y="108411"/>
                  </a:lnTo>
                  <a:lnTo>
                    <a:pt x="0" y="158496"/>
                  </a:lnTo>
                  <a:lnTo>
                    <a:pt x="0" y="796518"/>
                  </a:lnTo>
                  <a:lnTo>
                    <a:pt x="8083" y="846625"/>
                  </a:lnTo>
                  <a:lnTo>
                    <a:pt x="30589" y="890141"/>
                  </a:lnTo>
                  <a:lnTo>
                    <a:pt x="64904" y="924455"/>
                  </a:lnTo>
                  <a:lnTo>
                    <a:pt x="108411" y="946958"/>
                  </a:lnTo>
                  <a:lnTo>
                    <a:pt x="158496" y="955040"/>
                  </a:lnTo>
                  <a:lnTo>
                    <a:pt x="792607" y="955040"/>
                  </a:lnTo>
                  <a:lnTo>
                    <a:pt x="842691" y="946958"/>
                  </a:lnTo>
                  <a:lnTo>
                    <a:pt x="886198" y="924455"/>
                  </a:lnTo>
                  <a:lnTo>
                    <a:pt x="920513" y="890141"/>
                  </a:lnTo>
                  <a:lnTo>
                    <a:pt x="943019" y="846625"/>
                  </a:lnTo>
                  <a:lnTo>
                    <a:pt x="951103" y="796518"/>
                  </a:lnTo>
                  <a:lnTo>
                    <a:pt x="951103" y="158496"/>
                  </a:lnTo>
                  <a:lnTo>
                    <a:pt x="943019" y="108411"/>
                  </a:lnTo>
                  <a:lnTo>
                    <a:pt x="920513" y="64904"/>
                  </a:lnTo>
                  <a:lnTo>
                    <a:pt x="886198" y="30589"/>
                  </a:lnTo>
                  <a:lnTo>
                    <a:pt x="842691" y="8083"/>
                  </a:lnTo>
                  <a:lnTo>
                    <a:pt x="792607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62577" y="5311139"/>
              <a:ext cx="629285" cy="645160"/>
            </a:xfrm>
            <a:custGeom>
              <a:avLst/>
              <a:gdLst/>
              <a:ahLst/>
              <a:cxnLst/>
              <a:rect l="l" t="t" r="r" b="b"/>
              <a:pathLst>
                <a:path w="629285" h="645160">
                  <a:moveTo>
                    <a:pt x="629031" y="222250"/>
                  </a:moveTo>
                  <a:lnTo>
                    <a:pt x="415163" y="222250"/>
                  </a:lnTo>
                  <a:lnTo>
                    <a:pt x="415163" y="0"/>
                  </a:lnTo>
                  <a:lnTo>
                    <a:pt x="213868" y="0"/>
                  </a:lnTo>
                  <a:lnTo>
                    <a:pt x="213868" y="222250"/>
                  </a:lnTo>
                  <a:lnTo>
                    <a:pt x="0" y="222250"/>
                  </a:lnTo>
                  <a:lnTo>
                    <a:pt x="0" y="422910"/>
                  </a:lnTo>
                  <a:lnTo>
                    <a:pt x="213868" y="422910"/>
                  </a:lnTo>
                  <a:lnTo>
                    <a:pt x="213868" y="645160"/>
                  </a:lnTo>
                  <a:lnTo>
                    <a:pt x="415163" y="645160"/>
                  </a:lnTo>
                  <a:lnTo>
                    <a:pt x="415163" y="422910"/>
                  </a:lnTo>
                  <a:lnTo>
                    <a:pt x="629031" y="422910"/>
                  </a:lnTo>
                  <a:lnTo>
                    <a:pt x="629031" y="22225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88584" y="1083056"/>
            <a:ext cx="2163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Purpose</a:t>
            </a:r>
            <a:r>
              <a:rPr sz="1400" b="1" spc="-5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of</a:t>
            </a:r>
            <a:r>
              <a:rPr sz="1400" b="1" spc="-3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the</a:t>
            </a:r>
            <a:r>
              <a:rPr sz="1400" b="1" spc="-1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spc="-10" dirty="0">
                <a:solidFill>
                  <a:srgbClr val="090E20"/>
                </a:solidFill>
                <a:latin typeface="Nirmala UI"/>
                <a:cs typeface="Nirmala UI"/>
              </a:rPr>
              <a:t>Report</a:t>
            </a:r>
            <a:endParaRPr sz="1400">
              <a:latin typeface="Nirmala UI"/>
              <a:cs typeface="Nirmala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88584" y="1391513"/>
            <a:ext cx="5244465" cy="183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106680">
              <a:lnSpc>
                <a:spcPct val="155000"/>
              </a:lnSpc>
              <a:spcBef>
                <a:spcPts val="100"/>
              </a:spcBef>
            </a:pP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This</a:t>
            </a:r>
            <a:r>
              <a:rPr sz="14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report</a:t>
            </a:r>
            <a:r>
              <a:rPr sz="14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aims</a:t>
            </a:r>
            <a:r>
              <a:rPr sz="14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analyze operational</a:t>
            </a:r>
            <a:r>
              <a:rPr sz="14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efficiency</a:t>
            </a:r>
            <a:r>
              <a:rPr sz="14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within</a:t>
            </a:r>
            <a:r>
              <a:rPr sz="14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healthcare facilities.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365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Room</a:t>
            </a:r>
            <a:r>
              <a:rPr sz="1400" b="1" spc="-6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Utilization</a:t>
            </a:r>
            <a:r>
              <a:rPr sz="1400" b="1" spc="-3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spc="-10" dirty="0">
                <a:solidFill>
                  <a:srgbClr val="090E20"/>
                </a:solidFill>
                <a:latin typeface="Nirmala UI"/>
                <a:cs typeface="Nirmala UI"/>
              </a:rPr>
              <a:t>Analysis</a:t>
            </a:r>
            <a:endParaRPr sz="1400">
              <a:latin typeface="Nirmala UI"/>
              <a:cs typeface="Nirmala UI"/>
            </a:endParaRPr>
          </a:p>
          <a:p>
            <a:pPr marL="283845" marR="5080">
              <a:lnSpc>
                <a:spcPct val="155000"/>
              </a:lnSpc>
              <a:spcBef>
                <a:spcPts val="745"/>
              </a:spcBef>
            </a:pP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Examines</a:t>
            </a:r>
            <a:r>
              <a:rPr sz="14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utilization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private</a:t>
            </a:r>
            <a:r>
              <a:rPr sz="14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rooms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general</a:t>
            </a:r>
            <a:r>
              <a:rPr sz="14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wards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maximize capacity.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88584" y="3369309"/>
            <a:ext cx="21456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Length</a:t>
            </a:r>
            <a:r>
              <a:rPr sz="1400" b="1" spc="-2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of</a:t>
            </a:r>
            <a:r>
              <a:rPr sz="1400" b="1" spc="-4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Stay</a:t>
            </a:r>
            <a:r>
              <a:rPr sz="1400" b="1" spc="-3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spc="-10" dirty="0">
                <a:solidFill>
                  <a:srgbClr val="090E20"/>
                </a:solidFill>
                <a:latin typeface="Nirmala UI"/>
                <a:cs typeface="Nirmala UI"/>
              </a:rPr>
              <a:t>Trends</a:t>
            </a:r>
            <a:endParaRPr sz="1400">
              <a:latin typeface="Nirmala UI"/>
              <a:cs typeface="Nirmala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88584" y="4181983"/>
            <a:ext cx="22421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Cost</a:t>
            </a:r>
            <a:r>
              <a:rPr sz="1400" b="1" spc="-3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Analysis</a:t>
            </a:r>
            <a:r>
              <a:rPr sz="1400" b="1" spc="-2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spc="-10" dirty="0">
                <a:solidFill>
                  <a:srgbClr val="090E20"/>
                </a:solidFill>
                <a:latin typeface="Nirmala UI"/>
                <a:cs typeface="Nirmala UI"/>
              </a:rPr>
              <a:t>Overview</a:t>
            </a:r>
            <a:endParaRPr sz="1400">
              <a:latin typeface="Nirmala UI"/>
              <a:cs typeface="Nirmala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8584" y="3794201"/>
            <a:ext cx="5455920" cy="2252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384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Analyzes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trends</a:t>
            </a:r>
            <a:r>
              <a:rPr sz="14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in</a:t>
            </a:r>
            <a:r>
              <a:rPr sz="14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patient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 length</a:t>
            </a:r>
            <a:r>
              <a:rPr sz="14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of</a:t>
            </a:r>
            <a:r>
              <a:rPr sz="1400" spc="-5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stay</a:t>
            </a:r>
            <a:r>
              <a:rPr sz="14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identify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improvement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areas.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400">
              <a:latin typeface="Calibri"/>
              <a:cs typeface="Calibri"/>
            </a:endParaRPr>
          </a:p>
          <a:p>
            <a:pPr marL="283845" marR="556260">
              <a:lnSpc>
                <a:spcPct val="154300"/>
              </a:lnSpc>
            </a:pP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Reviews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treatment</a:t>
            </a:r>
            <a:r>
              <a:rPr sz="14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costs</a:t>
            </a:r>
            <a:r>
              <a:rPr sz="14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room</a:t>
            </a:r>
            <a:r>
              <a:rPr sz="1400" spc="-7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charges</a:t>
            </a:r>
            <a:r>
              <a:rPr sz="14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optimize</a:t>
            </a:r>
            <a:r>
              <a:rPr sz="14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financial resources.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370"/>
              </a:spcBef>
              <a:buClr>
                <a:srgbClr val="15E8C5"/>
              </a:buClr>
              <a:buFont typeface="Wingdings"/>
              <a:buChar char=""/>
              <a:tabLst>
                <a:tab pos="299085" algn="l"/>
              </a:tabLst>
            </a:pP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Payment</a:t>
            </a:r>
            <a:r>
              <a:rPr sz="1400" b="1" spc="-2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dirty="0">
                <a:solidFill>
                  <a:srgbClr val="090E20"/>
                </a:solidFill>
                <a:latin typeface="Nirmala UI"/>
                <a:cs typeface="Nirmala UI"/>
              </a:rPr>
              <a:t>Status</a:t>
            </a:r>
            <a:r>
              <a:rPr sz="1400" b="1" spc="-4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400" b="1" spc="-10" dirty="0">
                <a:solidFill>
                  <a:srgbClr val="090E20"/>
                </a:solidFill>
                <a:latin typeface="Nirmala UI"/>
                <a:cs typeface="Nirmala UI"/>
              </a:rPr>
              <a:t>Evaluation</a:t>
            </a:r>
            <a:endParaRPr sz="1400">
              <a:latin typeface="Nirmala UI"/>
              <a:cs typeface="Nirmala UI"/>
            </a:endParaRPr>
          </a:p>
          <a:p>
            <a:pPr marL="283845" marR="428625">
              <a:lnSpc>
                <a:spcPct val="100000"/>
              </a:lnSpc>
              <a:spcBef>
                <a:spcPts val="434"/>
              </a:spcBef>
            </a:pP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Assesses</a:t>
            </a:r>
            <a:r>
              <a:rPr sz="14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payment</a:t>
            </a:r>
            <a:r>
              <a:rPr sz="14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status 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insurance</a:t>
            </a:r>
            <a:r>
              <a:rPr sz="14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contributions</a:t>
            </a:r>
            <a:r>
              <a:rPr sz="1400" dirty="0">
                <a:solidFill>
                  <a:srgbClr val="090E20"/>
                </a:solidFill>
                <a:latin typeface="Calibri"/>
                <a:cs typeface="Calibri"/>
              </a:rPr>
              <a:t> for</a:t>
            </a:r>
            <a:r>
              <a:rPr sz="14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90E20"/>
                </a:solidFill>
                <a:latin typeface="Calibri"/>
                <a:cs typeface="Calibri"/>
              </a:rPr>
              <a:t>financial insights.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61ECBA-25E8-C651-8A43-9FA55506EB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09365"/>
            <a:ext cx="4677411" cy="35486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1627" y="678307"/>
            <a:ext cx="3587750" cy="1375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" algn="r">
              <a:lnSpc>
                <a:spcPts val="3650"/>
              </a:lnSpc>
              <a:spcBef>
                <a:spcPts val="105"/>
              </a:spcBef>
            </a:pPr>
            <a:r>
              <a:rPr dirty="0"/>
              <a:t>Key</a:t>
            </a:r>
            <a:r>
              <a:rPr spc="-95" dirty="0"/>
              <a:t> </a:t>
            </a:r>
            <a:r>
              <a:rPr dirty="0"/>
              <a:t>Insights</a:t>
            </a:r>
            <a:r>
              <a:rPr spc="-80" dirty="0"/>
              <a:t> </a:t>
            </a:r>
            <a:r>
              <a:rPr spc="-25" dirty="0"/>
              <a:t>and</a:t>
            </a:r>
          </a:p>
          <a:p>
            <a:pPr marL="12700" marR="5080" indent="1501140" algn="r">
              <a:lnSpc>
                <a:spcPts val="3320"/>
              </a:lnSpc>
              <a:spcBef>
                <a:spcPts val="350"/>
              </a:spcBef>
            </a:pPr>
            <a:r>
              <a:rPr spc="-10" dirty="0"/>
              <a:t>Actionable Recommendations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1355" y="2150110"/>
            <a:ext cx="3474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Summarizing</a:t>
            </a:r>
            <a:r>
              <a:rPr sz="1600" spc="-5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key</a:t>
            </a:r>
            <a:r>
              <a:rPr sz="1600" spc="-2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findings</a:t>
            </a:r>
            <a:r>
              <a:rPr sz="1600" spc="-7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and</a:t>
            </a:r>
            <a:r>
              <a:rPr sz="1600" spc="-5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suggestions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68693" y="3191001"/>
            <a:ext cx="5623560" cy="3103245"/>
            <a:chOff x="6568693" y="3191001"/>
            <a:chExt cx="5623560" cy="3103245"/>
          </a:xfrm>
        </p:grpSpPr>
        <p:sp>
          <p:nvSpPr>
            <p:cNvPr id="5" name="object 5"/>
            <p:cNvSpPr/>
            <p:nvPr/>
          </p:nvSpPr>
          <p:spPr>
            <a:xfrm>
              <a:off x="6916165" y="3191001"/>
              <a:ext cx="5276215" cy="3103245"/>
            </a:xfrm>
            <a:custGeom>
              <a:avLst/>
              <a:gdLst/>
              <a:ahLst/>
              <a:cxnLst/>
              <a:rect l="l" t="t" r="r" b="b"/>
              <a:pathLst>
                <a:path w="5276215" h="3103245">
                  <a:moveTo>
                    <a:pt x="5275833" y="0"/>
                  </a:moveTo>
                  <a:lnTo>
                    <a:pt x="279145" y="0"/>
                  </a:lnTo>
                  <a:lnTo>
                    <a:pt x="233864" y="3653"/>
                  </a:lnTo>
                  <a:lnTo>
                    <a:pt x="190910" y="14230"/>
                  </a:lnTo>
                  <a:lnTo>
                    <a:pt x="150857" y="31155"/>
                  </a:lnTo>
                  <a:lnTo>
                    <a:pt x="114281" y="53856"/>
                  </a:lnTo>
                  <a:lnTo>
                    <a:pt x="81756" y="81756"/>
                  </a:lnTo>
                  <a:lnTo>
                    <a:pt x="53856" y="114281"/>
                  </a:lnTo>
                  <a:lnTo>
                    <a:pt x="31155" y="150857"/>
                  </a:lnTo>
                  <a:lnTo>
                    <a:pt x="14230" y="190910"/>
                  </a:lnTo>
                  <a:lnTo>
                    <a:pt x="3653" y="233864"/>
                  </a:lnTo>
                  <a:lnTo>
                    <a:pt x="0" y="279146"/>
                  </a:lnTo>
                  <a:lnTo>
                    <a:pt x="0" y="2823959"/>
                  </a:lnTo>
                  <a:lnTo>
                    <a:pt x="3653" y="2869240"/>
                  </a:lnTo>
                  <a:lnTo>
                    <a:pt x="14230" y="2912196"/>
                  </a:lnTo>
                  <a:lnTo>
                    <a:pt x="31155" y="2952250"/>
                  </a:lnTo>
                  <a:lnTo>
                    <a:pt x="53856" y="2988828"/>
                  </a:lnTo>
                  <a:lnTo>
                    <a:pt x="81756" y="3021355"/>
                  </a:lnTo>
                  <a:lnTo>
                    <a:pt x="114281" y="3049257"/>
                  </a:lnTo>
                  <a:lnTo>
                    <a:pt x="150857" y="3071959"/>
                  </a:lnTo>
                  <a:lnTo>
                    <a:pt x="190910" y="3088886"/>
                  </a:lnTo>
                  <a:lnTo>
                    <a:pt x="233864" y="3099464"/>
                  </a:lnTo>
                  <a:lnTo>
                    <a:pt x="279145" y="3103118"/>
                  </a:lnTo>
                  <a:lnTo>
                    <a:pt x="5275833" y="3103118"/>
                  </a:lnTo>
                  <a:lnTo>
                    <a:pt x="5275833" y="0"/>
                  </a:lnTo>
                  <a:close/>
                </a:path>
              </a:pathLst>
            </a:custGeom>
            <a:solidFill>
              <a:srgbClr val="003E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68693" y="5213984"/>
              <a:ext cx="695325" cy="697865"/>
            </a:xfrm>
            <a:custGeom>
              <a:avLst/>
              <a:gdLst/>
              <a:ahLst/>
              <a:cxnLst/>
              <a:rect l="l" t="t" r="r" b="b"/>
              <a:pathLst>
                <a:path w="695325" h="697864">
                  <a:moveTo>
                    <a:pt x="579120" y="0"/>
                  </a:moveTo>
                  <a:lnTo>
                    <a:pt x="115824" y="0"/>
                  </a:lnTo>
                  <a:lnTo>
                    <a:pt x="70723" y="9096"/>
                  </a:lnTo>
                  <a:lnTo>
                    <a:pt x="33908" y="33909"/>
                  </a:lnTo>
                  <a:lnTo>
                    <a:pt x="9096" y="70723"/>
                  </a:lnTo>
                  <a:lnTo>
                    <a:pt x="0" y="115823"/>
                  </a:lnTo>
                  <a:lnTo>
                    <a:pt x="0" y="581964"/>
                  </a:lnTo>
                  <a:lnTo>
                    <a:pt x="9096" y="627056"/>
                  </a:lnTo>
                  <a:lnTo>
                    <a:pt x="33909" y="663876"/>
                  </a:lnTo>
                  <a:lnTo>
                    <a:pt x="70723" y="688699"/>
                  </a:lnTo>
                  <a:lnTo>
                    <a:pt x="115824" y="697801"/>
                  </a:lnTo>
                  <a:lnTo>
                    <a:pt x="579120" y="697801"/>
                  </a:lnTo>
                  <a:lnTo>
                    <a:pt x="624220" y="688699"/>
                  </a:lnTo>
                  <a:lnTo>
                    <a:pt x="661034" y="663876"/>
                  </a:lnTo>
                  <a:lnTo>
                    <a:pt x="685847" y="627056"/>
                  </a:lnTo>
                  <a:lnTo>
                    <a:pt x="694944" y="581964"/>
                  </a:lnTo>
                  <a:lnTo>
                    <a:pt x="694944" y="115823"/>
                  </a:lnTo>
                  <a:lnTo>
                    <a:pt x="685847" y="70723"/>
                  </a:lnTo>
                  <a:lnTo>
                    <a:pt x="661034" y="33909"/>
                  </a:lnTo>
                  <a:lnTo>
                    <a:pt x="624220" y="9096"/>
                  </a:lnTo>
                  <a:lnTo>
                    <a:pt x="579120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86295" y="5327649"/>
              <a:ext cx="459740" cy="471170"/>
            </a:xfrm>
            <a:custGeom>
              <a:avLst/>
              <a:gdLst/>
              <a:ahLst/>
              <a:cxnLst/>
              <a:rect l="l" t="t" r="r" b="b"/>
              <a:pathLst>
                <a:path w="459740" h="471170">
                  <a:moveTo>
                    <a:pt x="459740" y="161290"/>
                  </a:moveTo>
                  <a:lnTo>
                    <a:pt x="303403" y="161290"/>
                  </a:lnTo>
                  <a:lnTo>
                    <a:pt x="303403" y="0"/>
                  </a:lnTo>
                  <a:lnTo>
                    <a:pt x="156337" y="0"/>
                  </a:lnTo>
                  <a:lnTo>
                    <a:pt x="156337" y="161290"/>
                  </a:lnTo>
                  <a:lnTo>
                    <a:pt x="0" y="161290"/>
                  </a:lnTo>
                  <a:lnTo>
                    <a:pt x="0" y="308610"/>
                  </a:lnTo>
                  <a:lnTo>
                    <a:pt x="156337" y="308610"/>
                  </a:lnTo>
                  <a:lnTo>
                    <a:pt x="156337" y="471170"/>
                  </a:lnTo>
                  <a:lnTo>
                    <a:pt x="303403" y="471170"/>
                  </a:lnTo>
                  <a:lnTo>
                    <a:pt x="303403" y="308610"/>
                  </a:lnTo>
                  <a:lnTo>
                    <a:pt x="459740" y="308610"/>
                  </a:lnTo>
                  <a:lnTo>
                    <a:pt x="459740" y="16129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0024" y="661822"/>
            <a:ext cx="5844540" cy="515810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85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Patient</a:t>
            </a:r>
            <a:r>
              <a:rPr sz="1600" b="1" spc="-7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Satisfaction</a:t>
            </a:r>
            <a:r>
              <a:rPr sz="1600" b="1" spc="-8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Discrepancy</a:t>
            </a:r>
            <a:endParaRPr sz="1600">
              <a:latin typeface="Nirmala UI"/>
              <a:cs typeface="Nirmala UI"/>
            </a:endParaRPr>
          </a:p>
          <a:p>
            <a:pPr marL="285115" marR="308610">
              <a:lnSpc>
                <a:spcPct val="100000"/>
              </a:lnSpc>
              <a:spcBef>
                <a:spcPts val="980"/>
              </a:spcBef>
            </a:pP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Patient</a:t>
            </a:r>
            <a:r>
              <a:rPr sz="1600" spc="-6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satisfaction</a:t>
            </a:r>
            <a:r>
              <a:rPr sz="1600" spc="-6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scores</a:t>
            </a:r>
            <a:r>
              <a:rPr sz="16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are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notably</a:t>
            </a:r>
            <a:r>
              <a:rPr sz="16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lower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in</a:t>
            </a:r>
            <a:r>
              <a:rPr sz="1600" spc="-5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emergency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visits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than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in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scheduled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visits.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0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spc="-20" dirty="0">
                <a:solidFill>
                  <a:srgbClr val="090E20"/>
                </a:solidFill>
                <a:latin typeface="Nirmala UI"/>
                <a:cs typeface="Nirmala UI"/>
              </a:rPr>
              <a:t>Follow-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Up Protocol</a:t>
            </a:r>
            <a:r>
              <a:rPr sz="1600" b="1" spc="-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Improvement</a:t>
            </a:r>
            <a:endParaRPr sz="1600">
              <a:latin typeface="Nirmala UI"/>
              <a:cs typeface="Nirmala UI"/>
            </a:endParaRPr>
          </a:p>
          <a:p>
            <a:pPr marL="285115">
              <a:lnSpc>
                <a:spcPct val="100000"/>
              </a:lnSpc>
              <a:spcBef>
                <a:spcPts val="1430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Enhance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follow-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up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protocols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boost</a:t>
            </a:r>
            <a:r>
              <a:rPr sz="1600" spc="-2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follow-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up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visit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rates</a:t>
            </a:r>
            <a:r>
              <a:rPr sz="16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and</a:t>
            </a:r>
            <a:endParaRPr sz="160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685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patient</a:t>
            </a:r>
            <a:r>
              <a:rPr sz="1600" spc="-8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engagement.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13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Emergency</a:t>
            </a:r>
            <a:r>
              <a:rPr sz="1600" b="1" spc="-4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Visit</a:t>
            </a:r>
            <a:r>
              <a:rPr sz="1600" b="1" spc="-7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Efficiency</a:t>
            </a:r>
            <a:endParaRPr sz="1600">
              <a:latin typeface="Nirmala UI"/>
              <a:cs typeface="Nirmala UI"/>
            </a:endParaRPr>
          </a:p>
          <a:p>
            <a:pPr marL="285115" marR="5080">
              <a:lnSpc>
                <a:spcPct val="100000"/>
              </a:lnSpc>
              <a:spcBef>
                <a:spcPts val="969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Increase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resources</a:t>
            </a:r>
            <a:r>
              <a:rPr sz="1600" spc="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in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emergency departments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reduce</a:t>
            </a:r>
            <a:r>
              <a:rPr sz="1600" spc="-1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wait</a:t>
            </a:r>
            <a:r>
              <a:rPr sz="16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times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and</a:t>
            </a:r>
            <a:r>
              <a:rPr sz="1600" spc="-7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improve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patient</a:t>
            </a:r>
            <a:r>
              <a:rPr sz="1600" spc="-8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experiences.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05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Data-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Driven</a:t>
            </a:r>
            <a:r>
              <a:rPr sz="1600" b="1" spc="-2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Decision</a:t>
            </a:r>
            <a:r>
              <a:rPr sz="1600" b="1" spc="-45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Making</a:t>
            </a:r>
            <a:endParaRPr sz="1600">
              <a:latin typeface="Nirmala UI"/>
              <a:cs typeface="Nirmala UI"/>
            </a:endParaRPr>
          </a:p>
          <a:p>
            <a:pPr marL="285115" marR="1055370">
              <a:lnSpc>
                <a:spcPct val="135000"/>
              </a:lnSpc>
              <a:spcBef>
                <a:spcPts val="765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Utilize</a:t>
            </a:r>
            <a:r>
              <a:rPr sz="1600" spc="-6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patient</a:t>
            </a:r>
            <a:r>
              <a:rPr sz="1600" spc="-7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feedback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data</a:t>
            </a:r>
            <a:r>
              <a:rPr sz="1600" spc="-6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r>
              <a:rPr sz="1600" spc="-5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inform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service</a:t>
            </a:r>
            <a:r>
              <a:rPr sz="1600" spc="-3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delivery improvements.</a:t>
            </a:r>
            <a:endParaRPr sz="16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130"/>
              </a:spcBef>
              <a:buClr>
                <a:srgbClr val="15E8C5"/>
              </a:buClr>
              <a:buFont typeface="Wingdings"/>
              <a:buChar char=""/>
              <a:tabLst>
                <a:tab pos="298450" algn="l"/>
              </a:tabLst>
            </a:pP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Training</a:t>
            </a:r>
            <a:r>
              <a:rPr sz="1600" b="1" spc="-5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dirty="0">
                <a:solidFill>
                  <a:srgbClr val="090E20"/>
                </a:solidFill>
                <a:latin typeface="Nirmala UI"/>
                <a:cs typeface="Nirmala UI"/>
              </a:rPr>
              <a:t>for</a:t>
            </a:r>
            <a:r>
              <a:rPr sz="1600" b="1" spc="-40" dirty="0">
                <a:solidFill>
                  <a:srgbClr val="090E20"/>
                </a:solidFill>
                <a:latin typeface="Nirmala UI"/>
                <a:cs typeface="Nirmala UI"/>
              </a:rPr>
              <a:t> </a:t>
            </a:r>
            <a:r>
              <a:rPr sz="1600" b="1" spc="-10" dirty="0">
                <a:solidFill>
                  <a:srgbClr val="090E20"/>
                </a:solidFill>
                <a:latin typeface="Nirmala UI"/>
                <a:cs typeface="Nirmala UI"/>
              </a:rPr>
              <a:t>Staff</a:t>
            </a:r>
            <a:endParaRPr sz="1600">
              <a:latin typeface="Nirmala UI"/>
              <a:cs typeface="Nirmala UI"/>
            </a:endParaRPr>
          </a:p>
          <a:p>
            <a:pPr marL="285115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Provide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additional</a:t>
            </a:r>
            <a:r>
              <a:rPr sz="1600" spc="-7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training</a:t>
            </a:r>
            <a:r>
              <a:rPr sz="1600" spc="-5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for</a:t>
            </a:r>
            <a:r>
              <a:rPr sz="1600" spc="-3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staff</a:t>
            </a:r>
            <a:r>
              <a:rPr sz="16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on</a:t>
            </a:r>
            <a:r>
              <a:rPr sz="1600" spc="-40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patient</a:t>
            </a:r>
            <a:r>
              <a:rPr sz="1600" spc="-4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communication</a:t>
            </a:r>
            <a:r>
              <a:rPr sz="1600" spc="-5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090E20"/>
                </a:solidFill>
                <a:latin typeface="Calibri"/>
                <a:cs typeface="Calibri"/>
              </a:rPr>
              <a:t>to</a:t>
            </a:r>
            <a:endParaRPr sz="160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</a:pP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enhance</a:t>
            </a:r>
            <a:r>
              <a:rPr sz="1600" spc="-7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90E20"/>
                </a:solidFill>
                <a:latin typeface="Calibri"/>
                <a:cs typeface="Calibri"/>
              </a:rPr>
              <a:t>overall</a:t>
            </a:r>
            <a:r>
              <a:rPr sz="1600" spc="-65" dirty="0">
                <a:solidFill>
                  <a:srgbClr val="090E2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90E20"/>
                </a:solidFill>
                <a:latin typeface="Calibri"/>
                <a:cs typeface="Calibri"/>
              </a:rPr>
              <a:t>satisfaction.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FC1C54-3B21-6E50-BFB8-C96981B32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785" y="3191001"/>
            <a:ext cx="5276215" cy="31032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1844" y="1987677"/>
            <a:ext cx="4239895" cy="154368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ct val="88400"/>
              </a:lnSpc>
              <a:spcBef>
                <a:spcPts val="600"/>
              </a:spcBef>
            </a:pPr>
            <a:r>
              <a:rPr sz="3600" spc="-10" dirty="0"/>
              <a:t>Enhancing </a:t>
            </a:r>
            <a:r>
              <a:rPr sz="3600" dirty="0"/>
              <a:t>Healthcare</a:t>
            </a:r>
            <a:r>
              <a:rPr sz="3600" spc="-140" dirty="0"/>
              <a:t> </a:t>
            </a:r>
            <a:r>
              <a:rPr sz="3600" spc="-10" dirty="0"/>
              <a:t>Delivery </a:t>
            </a:r>
            <a:r>
              <a:rPr sz="3600" dirty="0"/>
              <a:t>Through</a:t>
            </a:r>
            <a:r>
              <a:rPr sz="3600" spc="-55" dirty="0"/>
              <a:t> </a:t>
            </a:r>
            <a:r>
              <a:rPr sz="3600" spc="-10" dirty="0"/>
              <a:t>Analytics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291844" y="3724147"/>
            <a:ext cx="4660900" cy="92773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5"/>
              </a:spcBef>
            </a:pP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Utilizing</a:t>
            </a:r>
            <a:r>
              <a:rPr sz="1600" spc="-6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reports</a:t>
            </a:r>
            <a:r>
              <a:rPr sz="1600" spc="-3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drive</a:t>
            </a:r>
            <a:r>
              <a:rPr sz="1600" spc="-4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data-informed</a:t>
            </a:r>
            <a:r>
              <a:rPr sz="1600" spc="-3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decisions</a:t>
            </a:r>
            <a:r>
              <a:rPr sz="1600" spc="-4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fosters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improved</a:t>
            </a:r>
            <a:r>
              <a:rPr sz="1600" spc="-8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patient</a:t>
            </a:r>
            <a:r>
              <a:rPr sz="1600" spc="-9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care,</a:t>
            </a:r>
            <a:r>
              <a:rPr sz="1600" spc="-7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provider</a:t>
            </a:r>
            <a:r>
              <a:rPr sz="1600" spc="-6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performance,</a:t>
            </a:r>
            <a:r>
              <a:rPr sz="1600" spc="-5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13745"/>
                </a:solidFill>
                <a:latin typeface="Calibri"/>
                <a:cs typeface="Calibri"/>
              </a:rPr>
              <a:t>and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operational</a:t>
            </a:r>
            <a:r>
              <a:rPr sz="1600" spc="-1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313745"/>
                </a:solidFill>
                <a:latin typeface="Calibri"/>
                <a:cs typeface="Calibri"/>
              </a:rPr>
              <a:t>efficiency.</a:t>
            </a:r>
            <a:r>
              <a:rPr sz="1600" spc="-2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Let's</a:t>
            </a:r>
            <a:r>
              <a:rPr sz="1600" spc="-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collaborate</a:t>
            </a:r>
            <a:r>
              <a:rPr sz="1600" spc="-20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to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 implement </a:t>
            </a:r>
            <a:r>
              <a:rPr sz="1600" dirty="0">
                <a:solidFill>
                  <a:srgbClr val="313745"/>
                </a:solidFill>
                <a:latin typeface="Calibri"/>
                <a:cs typeface="Calibri"/>
              </a:rPr>
              <a:t>these</a:t>
            </a:r>
            <a:r>
              <a:rPr sz="1600" spc="-35" dirty="0">
                <a:solidFill>
                  <a:srgbClr val="31374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13745"/>
                </a:solidFill>
                <a:latin typeface="Calibri"/>
                <a:cs typeface="Calibri"/>
              </a:rPr>
              <a:t>insights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16166" y="316102"/>
            <a:ext cx="5276215" cy="5978525"/>
            <a:chOff x="6916166" y="316102"/>
            <a:chExt cx="5276215" cy="5978525"/>
          </a:xfrm>
        </p:grpSpPr>
        <p:sp>
          <p:nvSpPr>
            <p:cNvPr id="5" name="object 5"/>
            <p:cNvSpPr/>
            <p:nvPr/>
          </p:nvSpPr>
          <p:spPr>
            <a:xfrm>
              <a:off x="6916166" y="3191001"/>
              <a:ext cx="5276215" cy="3103245"/>
            </a:xfrm>
            <a:custGeom>
              <a:avLst/>
              <a:gdLst/>
              <a:ahLst/>
              <a:cxnLst/>
              <a:rect l="l" t="t" r="r" b="b"/>
              <a:pathLst>
                <a:path w="5276215" h="3103245">
                  <a:moveTo>
                    <a:pt x="5275833" y="0"/>
                  </a:moveTo>
                  <a:lnTo>
                    <a:pt x="279145" y="0"/>
                  </a:lnTo>
                  <a:lnTo>
                    <a:pt x="233864" y="3653"/>
                  </a:lnTo>
                  <a:lnTo>
                    <a:pt x="190910" y="14230"/>
                  </a:lnTo>
                  <a:lnTo>
                    <a:pt x="150857" y="31155"/>
                  </a:lnTo>
                  <a:lnTo>
                    <a:pt x="114281" y="53856"/>
                  </a:lnTo>
                  <a:lnTo>
                    <a:pt x="81756" y="81756"/>
                  </a:lnTo>
                  <a:lnTo>
                    <a:pt x="53856" y="114281"/>
                  </a:lnTo>
                  <a:lnTo>
                    <a:pt x="31155" y="150857"/>
                  </a:lnTo>
                  <a:lnTo>
                    <a:pt x="14230" y="190910"/>
                  </a:lnTo>
                  <a:lnTo>
                    <a:pt x="3653" y="233864"/>
                  </a:lnTo>
                  <a:lnTo>
                    <a:pt x="0" y="279146"/>
                  </a:lnTo>
                  <a:lnTo>
                    <a:pt x="0" y="2823959"/>
                  </a:lnTo>
                  <a:lnTo>
                    <a:pt x="3653" y="2869240"/>
                  </a:lnTo>
                  <a:lnTo>
                    <a:pt x="14230" y="2912196"/>
                  </a:lnTo>
                  <a:lnTo>
                    <a:pt x="31155" y="2952250"/>
                  </a:lnTo>
                  <a:lnTo>
                    <a:pt x="53856" y="2988828"/>
                  </a:lnTo>
                  <a:lnTo>
                    <a:pt x="81756" y="3021355"/>
                  </a:lnTo>
                  <a:lnTo>
                    <a:pt x="114281" y="3049257"/>
                  </a:lnTo>
                  <a:lnTo>
                    <a:pt x="150857" y="3071959"/>
                  </a:lnTo>
                  <a:lnTo>
                    <a:pt x="190910" y="3088886"/>
                  </a:lnTo>
                  <a:lnTo>
                    <a:pt x="233864" y="3099464"/>
                  </a:lnTo>
                  <a:lnTo>
                    <a:pt x="279145" y="3103118"/>
                  </a:lnTo>
                  <a:lnTo>
                    <a:pt x="5275833" y="3103118"/>
                  </a:lnTo>
                  <a:lnTo>
                    <a:pt x="5275833" y="0"/>
                  </a:lnTo>
                  <a:close/>
                </a:path>
              </a:pathLst>
            </a:custGeom>
            <a:solidFill>
              <a:srgbClr val="003E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9833" y="856386"/>
              <a:ext cx="4892167" cy="50755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59369" y="316102"/>
              <a:ext cx="1076325" cy="1080770"/>
            </a:xfrm>
            <a:custGeom>
              <a:avLst/>
              <a:gdLst/>
              <a:ahLst/>
              <a:cxnLst/>
              <a:rect l="l" t="t" r="r" b="b"/>
              <a:pathLst>
                <a:path w="1076325" h="1080770">
                  <a:moveTo>
                    <a:pt x="896747" y="0"/>
                  </a:moveTo>
                  <a:lnTo>
                    <a:pt x="179324" y="0"/>
                  </a:lnTo>
                  <a:lnTo>
                    <a:pt x="131644" y="6404"/>
                  </a:lnTo>
                  <a:lnTo>
                    <a:pt x="88805" y="24478"/>
                  </a:lnTo>
                  <a:lnTo>
                    <a:pt x="52514" y="52514"/>
                  </a:lnTo>
                  <a:lnTo>
                    <a:pt x="24478" y="88805"/>
                  </a:lnTo>
                  <a:lnTo>
                    <a:pt x="6404" y="131644"/>
                  </a:lnTo>
                  <a:lnTo>
                    <a:pt x="0" y="179324"/>
                  </a:lnTo>
                  <a:lnTo>
                    <a:pt x="0" y="901192"/>
                  </a:lnTo>
                  <a:lnTo>
                    <a:pt x="6404" y="948871"/>
                  </a:lnTo>
                  <a:lnTo>
                    <a:pt x="24478" y="991710"/>
                  </a:lnTo>
                  <a:lnTo>
                    <a:pt x="52514" y="1028001"/>
                  </a:lnTo>
                  <a:lnTo>
                    <a:pt x="88805" y="1056037"/>
                  </a:lnTo>
                  <a:lnTo>
                    <a:pt x="131644" y="1074111"/>
                  </a:lnTo>
                  <a:lnTo>
                    <a:pt x="179324" y="1080516"/>
                  </a:lnTo>
                  <a:lnTo>
                    <a:pt x="896747" y="1080516"/>
                  </a:lnTo>
                  <a:lnTo>
                    <a:pt x="944426" y="1074111"/>
                  </a:lnTo>
                  <a:lnTo>
                    <a:pt x="987265" y="1056037"/>
                  </a:lnTo>
                  <a:lnTo>
                    <a:pt x="1023556" y="1028001"/>
                  </a:lnTo>
                  <a:lnTo>
                    <a:pt x="1051592" y="991710"/>
                  </a:lnTo>
                  <a:lnTo>
                    <a:pt x="1069666" y="948871"/>
                  </a:lnTo>
                  <a:lnTo>
                    <a:pt x="1076071" y="901192"/>
                  </a:lnTo>
                  <a:lnTo>
                    <a:pt x="1076071" y="179324"/>
                  </a:lnTo>
                  <a:lnTo>
                    <a:pt x="1069666" y="131644"/>
                  </a:lnTo>
                  <a:lnTo>
                    <a:pt x="1051592" y="88805"/>
                  </a:lnTo>
                  <a:lnTo>
                    <a:pt x="1023556" y="52514"/>
                  </a:lnTo>
                  <a:lnTo>
                    <a:pt x="987265" y="24478"/>
                  </a:lnTo>
                  <a:lnTo>
                    <a:pt x="944426" y="6404"/>
                  </a:lnTo>
                  <a:lnTo>
                    <a:pt x="896747" y="0"/>
                  </a:lnTo>
                  <a:close/>
                </a:path>
              </a:pathLst>
            </a:custGeom>
            <a:solidFill>
              <a:srgbClr val="15E8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41487" y="491489"/>
              <a:ext cx="711835" cy="728980"/>
            </a:xfrm>
            <a:custGeom>
              <a:avLst/>
              <a:gdLst/>
              <a:ahLst/>
              <a:cxnLst/>
              <a:rect l="l" t="t" r="r" b="b"/>
              <a:pathLst>
                <a:path w="711834" h="728980">
                  <a:moveTo>
                    <a:pt x="711835" y="251460"/>
                  </a:moveTo>
                  <a:lnTo>
                    <a:pt x="469773" y="251460"/>
                  </a:lnTo>
                  <a:lnTo>
                    <a:pt x="469773" y="0"/>
                  </a:lnTo>
                  <a:lnTo>
                    <a:pt x="242062" y="0"/>
                  </a:lnTo>
                  <a:lnTo>
                    <a:pt x="242062" y="251460"/>
                  </a:lnTo>
                  <a:lnTo>
                    <a:pt x="0" y="251460"/>
                  </a:lnTo>
                  <a:lnTo>
                    <a:pt x="0" y="478790"/>
                  </a:lnTo>
                  <a:lnTo>
                    <a:pt x="242062" y="478790"/>
                  </a:lnTo>
                  <a:lnTo>
                    <a:pt x="242062" y="728980"/>
                  </a:lnTo>
                  <a:lnTo>
                    <a:pt x="469773" y="728980"/>
                  </a:lnTo>
                  <a:lnTo>
                    <a:pt x="469773" y="478790"/>
                  </a:lnTo>
                  <a:lnTo>
                    <a:pt x="711835" y="478790"/>
                  </a:lnTo>
                  <a:lnTo>
                    <a:pt x="711835" y="251460"/>
                  </a:lnTo>
                  <a:close/>
                </a:path>
              </a:pathLst>
            </a:custGeom>
            <a:solidFill>
              <a:srgbClr val="D0F9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671</Words>
  <Application>Microsoft Office PowerPoint</Application>
  <PresentationFormat>Widescreen</PresentationFormat>
  <Paragraphs>123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Rounded MT Bold</vt:lpstr>
      <vt:lpstr>Calibri</vt:lpstr>
      <vt:lpstr>Nirmala UI</vt:lpstr>
      <vt:lpstr>Trebuchet MS</vt:lpstr>
      <vt:lpstr>Wingdings</vt:lpstr>
      <vt:lpstr>Office Theme</vt:lpstr>
      <vt:lpstr>Healthcare Analytics Report</vt:lpstr>
      <vt:lpstr>Patients Report Overview</vt:lpstr>
      <vt:lpstr>Key Performance Indicators for Patients</vt:lpstr>
      <vt:lpstr>Doctors Report Overview</vt:lpstr>
      <vt:lpstr>Key Performance Indicators Overview</vt:lpstr>
      <vt:lpstr>Calculating Revenue</vt:lpstr>
      <vt:lpstr>Operational Efficiency</vt:lpstr>
      <vt:lpstr>Key Insights and Actionable Recommendations</vt:lpstr>
      <vt:lpstr>Enhancing Healthcare Delivery Through Analytics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Naveen Rawat</dc:creator>
  <cp:lastModifiedBy>Deepak Kumar</cp:lastModifiedBy>
  <cp:revision>1</cp:revision>
  <dcterms:created xsi:type="dcterms:W3CDTF">2026-02-12T16:03:07Z</dcterms:created>
  <dcterms:modified xsi:type="dcterms:W3CDTF">2026-02-12T16:15:30Z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2026-02-12T00:00:00Z</vt:filetime>
  </property>
  <property fmtid="{D5CDD505-2E9C-101B-9397-08002B2CF9AE}" pid="5" name="Producer">
    <vt:lpwstr>Microsoft® PowerPoint® for Microsoft 365</vt:lpwstr>
  </property>
</Properties>
</file>